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5143500" cy="9144000"/>
  <p:embeddedFontLst>
    <p:embeddedFont>
      <p:font typeface="Arial Black"/>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ArialBlack-regular.fnt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g3d75edca3cd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g3d75edca3cd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g3d75edca3cd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3d75edca3cd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g3d75edca3cd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g3d75edca3cd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75edca3cd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d75edca3cd_7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d75edca3cd_7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8dbded626_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d8dbded626_6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3d8dbded626_6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75edca3cd_2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d75edca3cd_2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t>Not the average of people, we know that the ai simulation is but we wanted to keep it broad and open to the public without having too much scrutiny </a:t>
            </a:r>
            <a:endParaRPr sz="1400"/>
          </a:p>
          <a:p>
            <a:pPr indent="0" lvl="0" marL="0" rtl="0" algn="l">
              <a:spcBef>
                <a:spcPts val="0"/>
              </a:spcBef>
              <a:spcAft>
                <a:spcPts val="0"/>
              </a:spcAft>
              <a:buNone/>
            </a:pPr>
            <a:r>
              <a:rPr lang="en-US" sz="1400"/>
              <a:t>Assumptions of the words “Stability”, “Tiredness”, “</a:t>
            </a:r>
            <a:r>
              <a:rPr lang="en-US" sz="1400"/>
              <a:t>Discomfort”, “Accesibility”. → Not easy to track, and so it was left up to the users discretion with our guidance on how to think about these words. Stability was described as overal lumbar and hip support throughout the drive</a:t>
            </a:r>
            <a:endParaRPr sz="1400"/>
          </a:p>
          <a:p>
            <a:pPr indent="0" lvl="0" marL="0" rtl="0" algn="l">
              <a:spcBef>
                <a:spcPts val="0"/>
              </a:spcBef>
              <a:spcAft>
                <a:spcPts val="0"/>
              </a:spcAft>
              <a:buNone/>
            </a:pPr>
            <a:r>
              <a:rPr lang="en-US" sz="1400"/>
              <a:t>Not too many participants, would have liked to get the number in the hundreds</a:t>
            </a:r>
            <a:endParaRPr sz="1400"/>
          </a:p>
          <a:p>
            <a:pPr indent="0" lvl="0" marL="0" rtl="0" algn="l">
              <a:spcBef>
                <a:spcPts val="0"/>
              </a:spcBef>
              <a:spcAft>
                <a:spcPts val="0"/>
              </a:spcAft>
              <a:buNone/>
            </a:pPr>
            <a:r>
              <a:rPr lang="en-US" sz="1400"/>
              <a:t>good split of data with a range of 4.5% spread, between 22.4% and 17.9%</a:t>
            </a:r>
            <a:endParaRPr sz="1400"/>
          </a:p>
          <a:p>
            <a:pPr indent="0" lvl="0" marL="0" rtl="0" algn="l">
              <a:spcBef>
                <a:spcPts val="0"/>
              </a:spcBef>
              <a:spcAft>
                <a:spcPts val="0"/>
              </a:spcAft>
              <a:buNone/>
            </a:pPr>
            <a:r>
              <a:t/>
            </a:r>
            <a:endParaRPr/>
          </a:p>
        </p:txBody>
      </p:sp>
      <p:sp>
        <p:nvSpPr>
          <p:cNvPr id="379" name="Google Shape;379;g3d75edca3cd_2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767f56f0f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d767f56f0f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t>bubble charts in excel, bigger and darker the data point, means there were many of the same response criteria that double counts</a:t>
            </a:r>
            <a:endParaRPr sz="1400"/>
          </a:p>
          <a:p>
            <a:pPr indent="0" lvl="0" marL="0" rtl="0" algn="l">
              <a:spcBef>
                <a:spcPts val="0"/>
              </a:spcBef>
              <a:spcAft>
                <a:spcPts val="0"/>
              </a:spcAft>
              <a:buNone/>
            </a:pPr>
            <a:r>
              <a:rPr lang="en-US" sz="1400"/>
              <a:t>while data isn’t well tested with </a:t>
            </a:r>
            <a:r>
              <a:rPr lang="en-US" sz="1400"/>
              <a:t>quantitative</a:t>
            </a:r>
            <a:r>
              <a:rPr lang="en-US" sz="1400"/>
              <a:t> backing, people find their </a:t>
            </a:r>
            <a:r>
              <a:rPr lang="en-US" sz="1400"/>
              <a:t>preferred</a:t>
            </a:r>
            <a:r>
              <a:rPr lang="en-US" sz="1400"/>
              <a:t> seating position through trial and error, so we are willing to take the step to assume that there is a real correlation between tiredness and accessibility and discomfort and stability to a degree,rather than it just being opinionated. </a:t>
            </a:r>
            <a:endParaRPr sz="1400"/>
          </a:p>
          <a:p>
            <a:pPr indent="0" lvl="0" marL="0" rtl="0" algn="l">
              <a:spcBef>
                <a:spcPts val="0"/>
              </a:spcBef>
              <a:spcAft>
                <a:spcPts val="0"/>
              </a:spcAft>
              <a:buNone/>
            </a:pPr>
            <a:r>
              <a:t/>
            </a:r>
            <a:endParaRPr sz="1400"/>
          </a:p>
        </p:txBody>
      </p:sp>
      <p:sp>
        <p:nvSpPr>
          <p:cNvPr id="398" name="Google Shape;398;g3d767f56f0f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analyzing survey data and simulated data saw that the best results came from the optimal seat clearance and reach, </a:t>
            </a:r>
            <a:r>
              <a:rPr lang="en-US"/>
              <a:t>with</a:t>
            </a:r>
            <a:r>
              <a:rPr lang="en-US"/>
              <a:t> the worst results coming from undersize</a:t>
            </a:r>
            <a:r>
              <a:rPr lang="en-US"/>
              <a:t>d seat clearance and close reach. We also sw that a shift in 2-4 inches already mad very big performance drops, and lastly, we saw seat and reach distance can be improved individually but optih led to highest performance outcomes</a:t>
            </a:r>
            <a:endParaRPr/>
          </a:p>
        </p:txBody>
      </p:sp>
      <p:sp>
        <p:nvSpPr>
          <p:cNvPr id="420" name="Google Shape;4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d75edca3cd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3d75edca3cd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g3d75edca3cd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d767f56f0f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g3d767f56f0f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g3d767f56f0f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17" name="Shape 17"/>
        <p:cNvGrpSpPr/>
        <p:nvPr/>
      </p:nvGrpSpPr>
      <p:grpSpPr>
        <a:xfrm>
          <a:off x="0" y="0"/>
          <a:ext cx="0" cy="0"/>
          <a:chOff x="0" y="0"/>
          <a:chExt cx="0" cy="0"/>
        </a:xfrm>
      </p:grpSpPr>
      <p:sp>
        <p:nvSpPr>
          <p:cNvPr id="18" name="Google Shape;18;p3"/>
          <p:cNvSpPr/>
          <p:nvPr/>
        </p:nvSpPr>
        <p:spPr>
          <a:xfrm>
            <a:off x="0" y="0"/>
            <a:ext cx="164700" cy="51435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0" y="4663440"/>
            <a:ext cx="9144000" cy="4800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274320" y="4736592"/>
            <a:ext cx="85953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EIN3241  ·  Human Factors &amp; Ergonomics  ·  University of Florida  ·  Spring 2026</a:t>
            </a:r>
            <a:endParaRPr b="0" i="0" sz="1000" u="none" cap="none" strike="noStrike">
              <a:solidFill>
                <a:schemeClr val="dk1"/>
              </a:solidFill>
              <a:latin typeface="Calibri"/>
              <a:ea typeface="Calibri"/>
              <a:cs typeface="Calibri"/>
              <a:sym typeface="Calibri"/>
            </a:endParaRPr>
          </a:p>
        </p:txBody>
      </p:sp>
      <p:sp>
        <p:nvSpPr>
          <p:cNvPr id="21" name="Google Shape;21;p3"/>
          <p:cNvSpPr/>
          <p:nvPr/>
        </p:nvSpPr>
        <p:spPr>
          <a:xfrm>
            <a:off x="4754880" y="0"/>
            <a:ext cx="4389000" cy="4663500"/>
          </a:xfrm>
          <a:prstGeom prst="rect">
            <a:avLst/>
          </a:prstGeom>
          <a:solidFill>
            <a:srgbClr val="1A1A1A"/>
          </a:solidFill>
          <a:ln cap="flat" cmpd="sng" w="12700">
            <a:solidFill>
              <a:srgbClr val="1A6EB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4754880" y="2148840"/>
            <a:ext cx="43890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1100"/>
              <a:buFont typeface="Arial"/>
              <a:buNone/>
            </a:pPr>
            <a:r>
              <a:rPr b="0" i="1" lang="en-US" sz="1100" u="none" cap="none" strike="noStrike">
                <a:solidFill>
                  <a:srgbClr val="444444"/>
                </a:solidFill>
                <a:latin typeface="Arial"/>
                <a:ea typeface="Arial"/>
                <a:cs typeface="Arial"/>
                <a:sym typeface="Arial"/>
              </a:rPr>
              <a:t>INSERT CAR / COCKPIT IMAGE</a:t>
            </a:r>
            <a:endParaRPr b="0" i="0" sz="1100" u="none" cap="none" strike="noStrike">
              <a:solidFill>
                <a:schemeClr val="dk1"/>
              </a:solidFill>
              <a:latin typeface="Calibri"/>
              <a:ea typeface="Calibri"/>
              <a:cs typeface="Calibri"/>
              <a:sym typeface="Calibri"/>
            </a:endParaRPr>
          </a:p>
        </p:txBody>
      </p:sp>
      <p:sp>
        <p:nvSpPr>
          <p:cNvPr id="23" name="Google Shape;23;p3"/>
          <p:cNvSpPr/>
          <p:nvPr/>
        </p:nvSpPr>
        <p:spPr>
          <a:xfrm>
            <a:off x="320040" y="502920"/>
            <a:ext cx="42978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3800"/>
              <a:buFont typeface="Arial Black"/>
              <a:buNone/>
            </a:pPr>
            <a:r>
              <a:rPr b="1" i="0" lang="en-US" sz="3800" u="none" cap="none" strike="noStrike">
                <a:solidFill>
                  <a:srgbClr val="E8600A"/>
                </a:solidFill>
                <a:latin typeface="Arial Black"/>
                <a:ea typeface="Arial Black"/>
                <a:cs typeface="Arial Black"/>
                <a:sym typeface="Arial Black"/>
              </a:rPr>
              <a:t>ERGONOMIC FIT</a:t>
            </a:r>
            <a:endParaRPr b="0" i="0" sz="3800" u="none" cap="none" strike="noStrike">
              <a:solidFill>
                <a:schemeClr val="dk1"/>
              </a:solidFill>
              <a:latin typeface="Calibri"/>
              <a:ea typeface="Calibri"/>
              <a:cs typeface="Calibri"/>
              <a:sym typeface="Calibri"/>
            </a:endParaRPr>
          </a:p>
        </p:txBody>
      </p:sp>
      <p:sp>
        <p:nvSpPr>
          <p:cNvPr id="24" name="Google Shape;24;p3"/>
          <p:cNvSpPr/>
          <p:nvPr/>
        </p:nvSpPr>
        <p:spPr>
          <a:xfrm>
            <a:off x="310890" y="1344178"/>
            <a:ext cx="4297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Black"/>
              <a:buNone/>
            </a:pPr>
            <a:r>
              <a:rPr b="1" i="0" lang="en-US" sz="2600" u="none" cap="none" strike="noStrike">
                <a:solidFill>
                  <a:srgbClr val="FFFFFF"/>
                </a:solidFill>
                <a:latin typeface="Arial Black"/>
                <a:ea typeface="Arial Black"/>
                <a:cs typeface="Arial Black"/>
                <a:sym typeface="Arial Black"/>
              </a:rPr>
              <a:t>IN THE COCKPIT</a:t>
            </a:r>
            <a:endParaRPr b="0" i="0" sz="2600" u="none" cap="none" strike="noStrike">
              <a:solidFill>
                <a:schemeClr val="dk1"/>
              </a:solidFill>
              <a:latin typeface="Calibri"/>
              <a:ea typeface="Calibri"/>
              <a:cs typeface="Calibri"/>
              <a:sym typeface="Calibri"/>
            </a:endParaRPr>
          </a:p>
        </p:txBody>
      </p:sp>
      <p:sp>
        <p:nvSpPr>
          <p:cNvPr id="25" name="Google Shape;25;p3"/>
          <p:cNvSpPr/>
          <p:nvPr/>
        </p:nvSpPr>
        <p:spPr>
          <a:xfrm>
            <a:off x="320040" y="1901408"/>
            <a:ext cx="2560200" cy="366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320040" y="1847088"/>
            <a:ext cx="4297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300"/>
              <a:buFont typeface="Arial"/>
              <a:buNone/>
            </a:pPr>
            <a:r>
              <a:rPr i="0" lang="en-US" u="none" cap="none" strike="noStrike">
                <a:solidFill>
                  <a:srgbClr val="FFFFFF"/>
                </a:solidFill>
                <a:latin typeface="Calibri"/>
                <a:ea typeface="Calibri"/>
                <a:cs typeface="Calibri"/>
                <a:sym typeface="Calibri"/>
              </a:rPr>
              <a:t>How Seat Clearance and Steering Wheel Reach</a:t>
            </a:r>
            <a:endParaRPr i="0" u="none" cap="none" strike="noStrike">
              <a:solidFill>
                <a:srgbClr val="FFFFFF"/>
              </a:solidFill>
              <a:latin typeface="Calibri"/>
              <a:ea typeface="Calibri"/>
              <a:cs typeface="Calibri"/>
              <a:sym typeface="Calibri"/>
            </a:endParaRPr>
          </a:p>
          <a:p>
            <a:pPr indent="0" lvl="0" marL="0" marR="0" rtl="0" algn="l">
              <a:spcBef>
                <a:spcPts val="0"/>
              </a:spcBef>
              <a:spcAft>
                <a:spcPts val="0"/>
              </a:spcAft>
              <a:buClr>
                <a:srgbClr val="8A8A8A"/>
              </a:buClr>
              <a:buSzPts val="1300"/>
              <a:buFont typeface="Arial"/>
              <a:buNone/>
            </a:pPr>
            <a:r>
              <a:rPr i="0" lang="en-US" u="none" cap="none" strike="noStrike">
                <a:solidFill>
                  <a:srgbClr val="FFFFFF"/>
                </a:solidFill>
                <a:latin typeface="Calibri"/>
                <a:ea typeface="Calibri"/>
                <a:cs typeface="Calibri"/>
                <a:sym typeface="Calibri"/>
              </a:rPr>
              <a:t>Affect Race Car Driver Performance, Comfort, and Fatigue</a:t>
            </a:r>
            <a:endParaRPr i="0" u="none" cap="none" strike="noStrike">
              <a:solidFill>
                <a:srgbClr val="FFFFFF"/>
              </a:solidFill>
              <a:latin typeface="Calibri"/>
              <a:ea typeface="Calibri"/>
              <a:cs typeface="Calibri"/>
              <a:sym typeface="Calibri"/>
            </a:endParaRPr>
          </a:p>
        </p:txBody>
      </p:sp>
      <p:sp>
        <p:nvSpPr>
          <p:cNvPr id="27" name="Google Shape;27;p3"/>
          <p:cNvSpPr/>
          <p:nvPr/>
        </p:nvSpPr>
        <p:spPr>
          <a:xfrm>
            <a:off x="320040" y="2971800"/>
            <a:ext cx="4297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8E8"/>
              </a:buClr>
              <a:buSzPts val="1200"/>
              <a:buFont typeface="Arial"/>
              <a:buNone/>
            </a:pPr>
            <a:r>
              <a:rPr b="0" i="0" lang="en-US" sz="1200" u="none" cap="none" strike="noStrike">
                <a:solidFill>
                  <a:schemeClr val="lt1"/>
                </a:solidFill>
                <a:latin typeface="Arial"/>
                <a:ea typeface="Arial"/>
                <a:cs typeface="Arial"/>
                <a:sym typeface="Arial"/>
              </a:rPr>
              <a:t>Fauni  ·  Rosen  ·  Coyne  ·  Spillman  ·  Walsh  ·  Bonnoront</a:t>
            </a:r>
            <a:endParaRPr b="0" i="0" sz="1200" u="none" cap="none" strike="noStrike">
              <a:solidFill>
                <a:schemeClr val="lt1"/>
              </a:solidFill>
              <a:latin typeface="Calibri"/>
              <a:ea typeface="Calibri"/>
              <a:cs typeface="Calibri"/>
              <a:sym typeface="Calibri"/>
            </a:endParaRPr>
          </a:p>
        </p:txBody>
      </p:sp>
      <p:sp>
        <p:nvSpPr>
          <p:cNvPr id="28" name="Google Shape;28;p3"/>
          <p:cNvSpPr/>
          <p:nvPr/>
        </p:nvSpPr>
        <p:spPr>
          <a:xfrm>
            <a:off x="320040" y="3291840"/>
            <a:ext cx="4297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100"/>
              <a:buFont typeface="Arial"/>
              <a:buNone/>
            </a:pPr>
            <a:r>
              <a:rPr i="0" lang="en-US" sz="1200" u="none" cap="none" strike="noStrike">
                <a:solidFill>
                  <a:srgbClr val="FFFFFF"/>
                </a:solidFill>
                <a:latin typeface="Calibri"/>
                <a:ea typeface="Calibri"/>
                <a:cs typeface="Calibri"/>
                <a:sym typeface="Calibri"/>
              </a:rPr>
              <a:t>Dr. Jad Atweh  ·  April 2026</a:t>
            </a:r>
            <a:endParaRPr i="0" sz="1200" u="none" cap="none" strike="noStrike">
              <a:solidFill>
                <a:srgbClr val="FFFFFF"/>
              </a:solidFill>
              <a:latin typeface="Calibri"/>
              <a:ea typeface="Calibri"/>
              <a:cs typeface="Calibri"/>
              <a:sym typeface="Calibri"/>
            </a:endParaRPr>
          </a:p>
        </p:txBody>
      </p:sp>
      <p:pic>
        <p:nvPicPr>
          <p:cNvPr id="29" name="Google Shape;29;p3" title="IMG_4366.jpg"/>
          <p:cNvPicPr preferRelativeResize="0"/>
          <p:nvPr/>
        </p:nvPicPr>
        <p:blipFill rotWithShape="1">
          <a:blip r:embed="rId3">
            <a:alphaModFix/>
          </a:blip>
          <a:srcRect b="9330" l="0" r="0" t="0"/>
          <a:stretch/>
        </p:blipFill>
        <p:spPr>
          <a:xfrm>
            <a:off x="4773200" y="0"/>
            <a:ext cx="4370676" cy="4663499"/>
          </a:xfrm>
          <a:prstGeom prst="rect">
            <a:avLst/>
          </a:prstGeom>
          <a:noFill/>
          <a:ln>
            <a:noFill/>
          </a:ln>
        </p:spPr>
      </p:pic>
      <p:sp>
        <p:nvSpPr>
          <p:cNvPr id="30" name="Google Shape;30;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35" name="Shape 35"/>
        <p:cNvGrpSpPr/>
        <p:nvPr/>
      </p:nvGrpSpPr>
      <p:grpSpPr>
        <a:xfrm>
          <a:off x="0" y="0"/>
          <a:ext cx="0" cy="0"/>
          <a:chOff x="0" y="0"/>
          <a:chExt cx="0" cy="0"/>
        </a:xfrm>
      </p:grpSpPr>
      <p:sp>
        <p:nvSpPr>
          <p:cNvPr id="36" name="Google Shape;36;p4"/>
          <p:cNvSpPr/>
          <p:nvPr/>
        </p:nvSpPr>
        <p:spPr>
          <a:xfrm>
            <a:off x="411480" y="228600"/>
            <a:ext cx="54900" cy="237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557784" y="228600"/>
            <a:ext cx="2743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INTRODUCTION</a:t>
            </a:r>
            <a:endParaRPr b="0" i="0" sz="900" u="none" cap="none" strike="noStrike">
              <a:solidFill>
                <a:schemeClr val="dk1"/>
              </a:solidFill>
              <a:latin typeface="Calibri"/>
              <a:ea typeface="Calibri"/>
              <a:cs typeface="Calibri"/>
              <a:sym typeface="Calibri"/>
            </a:endParaRPr>
          </a:p>
        </p:txBody>
      </p:sp>
      <p:sp>
        <p:nvSpPr>
          <p:cNvPr id="38" name="Google Shape;38;p4"/>
          <p:cNvSpPr/>
          <p:nvPr/>
        </p:nvSpPr>
        <p:spPr>
          <a:xfrm>
            <a:off x="411480" y="621792"/>
            <a:ext cx="83211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lang="en-US" sz="3400">
                <a:solidFill>
                  <a:srgbClr val="FFFFFF"/>
                </a:solidFill>
                <a:latin typeface="Arial Black"/>
                <a:ea typeface="Arial Black"/>
                <a:cs typeface="Arial Black"/>
                <a:sym typeface="Arial Black"/>
              </a:rPr>
              <a:t>Problem Statement</a:t>
            </a:r>
            <a:endParaRPr b="0" i="0" sz="3400" u="none" cap="none" strike="noStrike">
              <a:solidFill>
                <a:schemeClr val="dk1"/>
              </a:solidFill>
              <a:latin typeface="Calibri"/>
              <a:ea typeface="Calibri"/>
              <a:cs typeface="Calibri"/>
              <a:sym typeface="Calibri"/>
            </a:endParaRPr>
          </a:p>
        </p:txBody>
      </p:sp>
      <p:sp>
        <p:nvSpPr>
          <p:cNvPr id="39" name="Google Shape;39;p4"/>
          <p:cNvSpPr/>
          <p:nvPr/>
        </p:nvSpPr>
        <p:spPr>
          <a:xfrm>
            <a:off x="411480" y="1325880"/>
            <a:ext cx="8321100" cy="273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0" y="4873752"/>
            <a:ext cx="9144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41" name="Google Shape;41;p4"/>
          <p:cNvSpPr/>
          <p:nvPr/>
        </p:nvSpPr>
        <p:spPr>
          <a:xfrm>
            <a:off x="411480" y="2443548"/>
            <a:ext cx="5029200" cy="6219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411480" y="2443548"/>
            <a:ext cx="54900" cy="6219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621792" y="2516700"/>
            <a:ext cx="17373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lang="en-US" sz="1100">
                <a:solidFill>
                  <a:srgbClr val="E8600A"/>
                </a:solidFill>
              </a:rPr>
              <a:t>Why it matters</a:t>
            </a:r>
            <a:endParaRPr b="0" i="0" sz="1100" u="none" cap="none" strike="noStrike">
              <a:solidFill>
                <a:schemeClr val="dk1"/>
              </a:solidFill>
              <a:latin typeface="Calibri"/>
              <a:ea typeface="Calibri"/>
              <a:cs typeface="Calibri"/>
              <a:sym typeface="Calibri"/>
            </a:endParaRPr>
          </a:p>
        </p:txBody>
      </p:sp>
      <p:sp>
        <p:nvSpPr>
          <p:cNvPr id="44" name="Google Shape;44;p4"/>
          <p:cNvSpPr/>
          <p:nvPr/>
        </p:nvSpPr>
        <p:spPr>
          <a:xfrm>
            <a:off x="2423149" y="2516700"/>
            <a:ext cx="3017400" cy="502800"/>
          </a:xfrm>
          <a:prstGeom prst="rect">
            <a:avLst/>
          </a:prstGeom>
          <a:solidFill>
            <a:srgbClr val="1E1E1E"/>
          </a:solid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lang="en-US">
                <a:solidFill>
                  <a:schemeClr val="lt1"/>
                </a:solidFill>
                <a:latin typeface="Calibri"/>
                <a:ea typeface="Calibri"/>
                <a:cs typeface="Calibri"/>
                <a:sym typeface="Calibri"/>
              </a:rPr>
              <a:t>Driver performance depends on precision, reaction time, and endurance</a:t>
            </a:r>
            <a:endParaRPr i="0" u="none" cap="none" strike="noStrike">
              <a:solidFill>
                <a:schemeClr val="lt1"/>
              </a:solidFill>
              <a:latin typeface="Calibri"/>
              <a:ea typeface="Calibri"/>
              <a:cs typeface="Calibri"/>
              <a:sym typeface="Calibri"/>
            </a:endParaRPr>
          </a:p>
        </p:txBody>
      </p:sp>
      <p:sp>
        <p:nvSpPr>
          <p:cNvPr id="45" name="Google Shape;45;p4"/>
          <p:cNvSpPr/>
          <p:nvPr/>
        </p:nvSpPr>
        <p:spPr>
          <a:xfrm>
            <a:off x="411480" y="3264806"/>
            <a:ext cx="5029200" cy="6219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11480" y="3264806"/>
            <a:ext cx="54900" cy="6219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621792" y="3337958"/>
            <a:ext cx="17373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lang="en-US" sz="1100">
                <a:solidFill>
                  <a:srgbClr val="1A6EBD"/>
                </a:solidFill>
              </a:rPr>
              <a:t>The Problem</a:t>
            </a:r>
            <a:endParaRPr b="0" i="0" sz="1100" u="none" cap="none" strike="noStrike">
              <a:solidFill>
                <a:schemeClr val="dk1"/>
              </a:solidFill>
              <a:latin typeface="Calibri"/>
              <a:ea typeface="Calibri"/>
              <a:cs typeface="Calibri"/>
              <a:sym typeface="Calibri"/>
            </a:endParaRPr>
          </a:p>
        </p:txBody>
      </p:sp>
      <p:sp>
        <p:nvSpPr>
          <p:cNvPr id="48" name="Google Shape;48;p4"/>
          <p:cNvSpPr/>
          <p:nvPr/>
        </p:nvSpPr>
        <p:spPr>
          <a:xfrm>
            <a:off x="2423150" y="3337950"/>
            <a:ext cx="30174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lang="en-US">
                <a:solidFill>
                  <a:schemeClr val="lt1"/>
                </a:solidFill>
                <a:latin typeface="Calibri"/>
                <a:ea typeface="Calibri"/>
                <a:cs typeface="Calibri"/>
                <a:sym typeface="Calibri"/>
              </a:rPr>
              <a:t>Poor cockpit fit increases fatigue, reduces control, and causes errors</a:t>
            </a:r>
            <a:endParaRPr sz="1300">
              <a:solidFill>
                <a:schemeClr val="lt1"/>
              </a:solidFill>
              <a:latin typeface="Calibri"/>
              <a:ea typeface="Calibri"/>
              <a:cs typeface="Calibri"/>
              <a:sym typeface="Calibri"/>
            </a:endParaRPr>
          </a:p>
        </p:txBody>
      </p:sp>
      <p:sp>
        <p:nvSpPr>
          <p:cNvPr id="49" name="Google Shape;49;p4"/>
          <p:cNvSpPr/>
          <p:nvPr/>
        </p:nvSpPr>
        <p:spPr>
          <a:xfrm>
            <a:off x="411480" y="4155827"/>
            <a:ext cx="5029200" cy="6219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411480" y="4155814"/>
            <a:ext cx="54900" cy="621900"/>
          </a:xfrm>
          <a:prstGeom prst="rect">
            <a:avLst/>
          </a:prstGeom>
          <a:solidFill>
            <a:srgbClr val="F5832A"/>
          </a:solidFill>
          <a:ln cap="flat" cmpd="sng" w="12700">
            <a:solidFill>
              <a:srgbClr val="F58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621792" y="4260841"/>
            <a:ext cx="17373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832A"/>
              </a:buClr>
              <a:buSzPts val="1100"/>
              <a:buFont typeface="Arial"/>
              <a:buNone/>
            </a:pPr>
            <a:r>
              <a:rPr b="1" lang="en-US" sz="1100">
                <a:solidFill>
                  <a:srgbClr val="F5832A"/>
                </a:solidFill>
              </a:rPr>
              <a:t>Research Gap</a:t>
            </a:r>
            <a:endParaRPr b="0" i="0" sz="1100" u="none" cap="none" strike="noStrike">
              <a:solidFill>
                <a:schemeClr val="dk1"/>
              </a:solidFill>
              <a:latin typeface="Calibri"/>
              <a:ea typeface="Calibri"/>
              <a:cs typeface="Calibri"/>
              <a:sym typeface="Calibri"/>
            </a:endParaRPr>
          </a:p>
        </p:txBody>
      </p:sp>
      <p:sp>
        <p:nvSpPr>
          <p:cNvPr id="52" name="Google Shape;52;p4"/>
          <p:cNvSpPr/>
          <p:nvPr/>
        </p:nvSpPr>
        <p:spPr>
          <a:xfrm>
            <a:off x="2423160" y="4215366"/>
            <a:ext cx="28347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lang="en-US" sz="1500">
                <a:solidFill>
                  <a:schemeClr val="lt1"/>
                </a:solidFill>
                <a:latin typeface="Calibri"/>
                <a:ea typeface="Calibri"/>
                <a:cs typeface="Calibri"/>
                <a:sym typeface="Calibri"/>
              </a:rPr>
              <a:t>No study isolates seat clearance and reach distance together</a:t>
            </a:r>
            <a:endParaRPr b="0" i="0" sz="1500" u="none" cap="none" strike="noStrike">
              <a:solidFill>
                <a:schemeClr val="lt1"/>
              </a:solidFill>
              <a:latin typeface="Calibri"/>
              <a:ea typeface="Calibri"/>
              <a:cs typeface="Calibri"/>
              <a:sym typeface="Calibri"/>
            </a:endParaRPr>
          </a:p>
        </p:txBody>
      </p:sp>
      <p:sp>
        <p:nvSpPr>
          <p:cNvPr id="53" name="Google Shape;53;p4"/>
          <p:cNvSpPr/>
          <p:nvPr/>
        </p:nvSpPr>
        <p:spPr>
          <a:xfrm>
            <a:off x="411455" y="1678906"/>
            <a:ext cx="8321100" cy="438900"/>
          </a:xfrm>
          <a:prstGeom prst="rect">
            <a:avLst/>
          </a:prstGeom>
          <a:solidFill>
            <a:srgbClr val="0A2540"/>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576060" y="1724508"/>
            <a:ext cx="1828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lang="en-US" sz="1100">
                <a:solidFill>
                  <a:srgbClr val="E8600A"/>
                </a:solidFill>
              </a:rPr>
              <a:t>Problem Statement:</a:t>
            </a:r>
            <a:endParaRPr b="0" i="0" sz="1100" u="none" cap="none" strike="noStrike">
              <a:solidFill>
                <a:schemeClr val="dk1"/>
              </a:solidFill>
              <a:latin typeface="Calibri"/>
              <a:ea typeface="Calibri"/>
              <a:cs typeface="Calibri"/>
              <a:sym typeface="Calibri"/>
            </a:endParaRPr>
          </a:p>
        </p:txBody>
      </p:sp>
      <p:sp>
        <p:nvSpPr>
          <p:cNvPr id="55" name="Google Shape;55;p4"/>
          <p:cNvSpPr/>
          <p:nvPr/>
        </p:nvSpPr>
        <p:spPr>
          <a:xfrm>
            <a:off x="2404850" y="1715350"/>
            <a:ext cx="61758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lang="en-US" sz="1100">
                <a:solidFill>
                  <a:srgbClr val="FFFFFF"/>
                </a:solidFill>
              </a:rPr>
              <a:t>Despite the critical role of cockpit fit in driver performance, no existing study has isolated the combined effects of seat clearance and steering wheel reach distance on driver outcomes. </a:t>
            </a:r>
            <a:endParaRPr b="0" i="0" sz="1100" u="none" cap="none" strike="noStrike">
              <a:solidFill>
                <a:schemeClr val="dk1"/>
              </a:solidFill>
              <a:latin typeface="Calibri"/>
              <a:ea typeface="Calibri"/>
              <a:cs typeface="Calibri"/>
              <a:sym typeface="Calibri"/>
            </a:endParaRPr>
          </a:p>
        </p:txBody>
      </p:sp>
      <p:pic>
        <p:nvPicPr>
          <p:cNvPr id="56" name="Google Shape;56;p4"/>
          <p:cNvPicPr preferRelativeResize="0"/>
          <p:nvPr/>
        </p:nvPicPr>
        <p:blipFill>
          <a:blip r:embed="rId3">
            <a:alphaModFix/>
          </a:blip>
          <a:stretch>
            <a:fillRect/>
          </a:stretch>
        </p:blipFill>
        <p:spPr>
          <a:xfrm>
            <a:off x="5593075" y="2270200"/>
            <a:ext cx="2987574" cy="2507525"/>
          </a:xfrm>
          <a:prstGeom prst="rect">
            <a:avLst/>
          </a:prstGeom>
          <a:noFill/>
          <a:ln>
            <a:noFill/>
          </a:ln>
        </p:spPr>
      </p:pic>
      <p:sp>
        <p:nvSpPr>
          <p:cNvPr id="57" name="Google Shape;57;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62" name="Shape 62"/>
        <p:cNvGrpSpPr/>
        <p:nvPr/>
      </p:nvGrpSpPr>
      <p:grpSpPr>
        <a:xfrm>
          <a:off x="0" y="0"/>
          <a:ext cx="0" cy="0"/>
          <a:chOff x="0" y="0"/>
          <a:chExt cx="0" cy="0"/>
        </a:xfrm>
      </p:grpSpPr>
      <p:sp>
        <p:nvSpPr>
          <p:cNvPr id="63" name="Google Shape;63;p5"/>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BACKGROUND</a:t>
            </a:r>
            <a:endParaRPr b="0" i="0" sz="900" u="none" cap="none" strike="noStrike">
              <a:solidFill>
                <a:schemeClr val="dk1"/>
              </a:solidFill>
              <a:latin typeface="Calibri"/>
              <a:ea typeface="Calibri"/>
              <a:cs typeface="Calibri"/>
              <a:sym typeface="Calibri"/>
            </a:endParaRPr>
          </a:p>
        </p:txBody>
      </p:sp>
      <p:sp>
        <p:nvSpPr>
          <p:cNvPr id="65" name="Google Shape;65;p5"/>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What the Research Tells Us</a:t>
            </a:r>
            <a:endParaRPr b="0" i="0" sz="3400" u="none" cap="none" strike="noStrike">
              <a:solidFill>
                <a:schemeClr val="dk1"/>
              </a:solidFill>
              <a:latin typeface="Calibri"/>
              <a:ea typeface="Calibri"/>
              <a:cs typeface="Calibri"/>
              <a:sym typeface="Calibri"/>
            </a:endParaRPr>
          </a:p>
        </p:txBody>
      </p:sp>
      <p:sp>
        <p:nvSpPr>
          <p:cNvPr id="66" name="Google Shape;66;p5"/>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68" name="Google Shape;68;p5"/>
          <p:cNvSpPr/>
          <p:nvPr/>
        </p:nvSpPr>
        <p:spPr>
          <a:xfrm>
            <a:off x="411475" y="1463046"/>
            <a:ext cx="4114800" cy="32370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411475" y="1463050"/>
            <a:ext cx="54900" cy="32370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612648" y="1554480"/>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lang="en-US" sz="1300">
                <a:solidFill>
                  <a:srgbClr val="E8600A"/>
                </a:solidFill>
              </a:rPr>
              <a:t>Existing Work</a:t>
            </a:r>
            <a:endParaRPr b="0" i="0" sz="1300" u="none" cap="none" strike="noStrike">
              <a:solidFill>
                <a:schemeClr val="dk1"/>
              </a:solidFill>
              <a:latin typeface="Calibri"/>
              <a:ea typeface="Calibri"/>
              <a:cs typeface="Calibri"/>
              <a:sym typeface="Calibri"/>
            </a:endParaRPr>
          </a:p>
        </p:txBody>
      </p:sp>
      <p:sp>
        <p:nvSpPr>
          <p:cNvPr id="71" name="Google Shape;71;p5"/>
          <p:cNvSpPr/>
          <p:nvPr/>
        </p:nvSpPr>
        <p:spPr>
          <a:xfrm>
            <a:off x="612650" y="1865371"/>
            <a:ext cx="3749100" cy="26772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lt1"/>
              </a:buClr>
              <a:buSzPts val="1300"/>
              <a:buChar char="●"/>
            </a:pPr>
            <a:r>
              <a:rPr lang="en-US" sz="1300">
                <a:solidFill>
                  <a:schemeClr val="lt1"/>
                </a:solidFill>
                <a:latin typeface="Calibri"/>
                <a:ea typeface="Calibri"/>
                <a:cs typeface="Calibri"/>
                <a:sym typeface="Calibri"/>
              </a:rPr>
              <a:t>Seat fit directly affects posture, muscle activation, and lap time (Rosalie &amp; Rosalie, 2021)</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Char char="●"/>
            </a:pPr>
            <a:r>
              <a:rPr lang="en-US" sz="1300">
                <a:solidFill>
                  <a:schemeClr val="lt1"/>
                </a:solidFill>
                <a:latin typeface="Calibri"/>
                <a:ea typeface="Calibri"/>
                <a:cs typeface="Calibri"/>
                <a:sym typeface="Calibri"/>
              </a:rPr>
              <a:t>G-forces create high physical strain, increasing error rates and fatigue over time (Mungai, 2025)</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Char char="●"/>
            </a:pPr>
            <a:r>
              <a:rPr lang="en-US" sz="1300">
                <a:solidFill>
                  <a:schemeClr val="lt1"/>
                </a:solidFill>
                <a:latin typeface="Calibri"/>
                <a:ea typeface="Calibri"/>
                <a:cs typeface="Calibri"/>
                <a:sym typeface="Calibri"/>
              </a:rPr>
              <a:t>Non-neutral postures increase biomechanical effort, slowing reaction time (Marklin et al., 2005)</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Char char="●"/>
            </a:pPr>
            <a:r>
              <a:rPr lang="en-US" sz="1300">
                <a:solidFill>
                  <a:schemeClr val="lt1"/>
                </a:solidFill>
                <a:latin typeface="Calibri"/>
                <a:ea typeface="Calibri"/>
                <a:cs typeface="Calibri"/>
                <a:sym typeface="Calibri"/>
              </a:rPr>
              <a:t>NASA-TLX captures workload; physical demand dominates at high performance levels (Tse, 2019)</a:t>
            </a:r>
            <a:endParaRPr sz="1300">
              <a:solidFill>
                <a:schemeClr val="lt1"/>
              </a:solidFill>
              <a:latin typeface="Calibri"/>
              <a:ea typeface="Calibri"/>
              <a:cs typeface="Calibri"/>
              <a:sym typeface="Calibri"/>
            </a:endParaRPr>
          </a:p>
          <a:p>
            <a:pPr indent="0" lvl="0" marL="0" marR="0" rtl="0" algn="l">
              <a:spcBef>
                <a:spcPts val="1200"/>
              </a:spcBef>
              <a:spcAft>
                <a:spcPts val="0"/>
              </a:spcAft>
              <a:buClr>
                <a:srgbClr val="8A8A8A"/>
              </a:buClr>
              <a:buSzPts val="1000"/>
              <a:buFont typeface="Arial"/>
              <a:buNone/>
            </a:pPr>
            <a:r>
              <a:t/>
            </a:r>
            <a:endParaRPr sz="1000">
              <a:solidFill>
                <a:schemeClr val="lt1"/>
              </a:solidFill>
              <a:latin typeface="Calibri"/>
              <a:ea typeface="Calibri"/>
              <a:cs typeface="Calibri"/>
              <a:sym typeface="Calibri"/>
            </a:endParaRPr>
          </a:p>
        </p:txBody>
      </p:sp>
      <p:sp>
        <p:nvSpPr>
          <p:cNvPr id="72" name="Google Shape;72;p5"/>
          <p:cNvSpPr/>
          <p:nvPr/>
        </p:nvSpPr>
        <p:spPr>
          <a:xfrm>
            <a:off x="4745725" y="3193875"/>
            <a:ext cx="4114800" cy="15063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4928573" y="3554350"/>
            <a:ext cx="3749100" cy="5304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lt1"/>
              </a:buClr>
              <a:buSzPts val="1300"/>
              <a:buFont typeface="Calibri"/>
              <a:buChar char="●"/>
            </a:pPr>
            <a:r>
              <a:rPr lang="en-US" sz="1200">
                <a:solidFill>
                  <a:schemeClr val="lt1"/>
                </a:solidFill>
                <a:latin typeface="Calibri"/>
                <a:ea typeface="Calibri"/>
                <a:cs typeface="Calibri"/>
                <a:sym typeface="Calibri"/>
              </a:rPr>
              <a:t>Tests seat clearance + reach distance simultaneously</a:t>
            </a:r>
            <a:endParaRPr sz="12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200">
                <a:solidFill>
                  <a:schemeClr val="lt1"/>
                </a:solidFill>
                <a:latin typeface="Calibri"/>
                <a:ea typeface="Calibri"/>
                <a:cs typeface="Calibri"/>
                <a:sym typeface="Calibri"/>
              </a:rPr>
              <a:t>Focuses on typical users (40th–60th percentiles) instead of extremes</a:t>
            </a:r>
            <a:endParaRPr sz="12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200">
                <a:solidFill>
                  <a:schemeClr val="lt1"/>
                </a:solidFill>
                <a:latin typeface="Calibri"/>
                <a:ea typeface="Calibri"/>
                <a:cs typeface="Calibri"/>
                <a:sym typeface="Calibri"/>
              </a:rPr>
              <a:t>Links ergonomics → workload (NASA-TLX) → performance outcomes</a:t>
            </a:r>
            <a:endParaRPr sz="1200">
              <a:solidFill>
                <a:schemeClr val="lt1"/>
              </a:solidFill>
              <a:latin typeface="Calibri"/>
              <a:ea typeface="Calibri"/>
              <a:cs typeface="Calibri"/>
              <a:sym typeface="Calibri"/>
            </a:endParaRPr>
          </a:p>
          <a:p>
            <a:pPr indent="0" lvl="0" marL="0" marR="0" rtl="0" algn="l">
              <a:spcBef>
                <a:spcPts val="1200"/>
              </a:spcBef>
              <a:spcAft>
                <a:spcPts val="0"/>
              </a:spcAft>
              <a:buClr>
                <a:srgbClr val="8A8A8A"/>
              </a:buClr>
              <a:buSzPts val="1000"/>
              <a:buFont typeface="Arial"/>
              <a:buNone/>
            </a:pPr>
            <a:r>
              <a:t/>
            </a:r>
            <a:endParaRPr sz="1200">
              <a:solidFill>
                <a:srgbClr val="B7B7B7"/>
              </a:solidFill>
              <a:latin typeface="Calibri"/>
              <a:ea typeface="Calibri"/>
              <a:cs typeface="Calibri"/>
              <a:sym typeface="Calibri"/>
            </a:endParaRPr>
          </a:p>
        </p:txBody>
      </p:sp>
      <p:sp>
        <p:nvSpPr>
          <p:cNvPr id="74" name="Google Shape;74;p5"/>
          <p:cNvSpPr/>
          <p:nvPr/>
        </p:nvSpPr>
        <p:spPr>
          <a:xfrm>
            <a:off x="4764025" y="1485850"/>
            <a:ext cx="4114800" cy="16038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4745725" y="1481625"/>
            <a:ext cx="54900" cy="16038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4946898" y="1559029"/>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lang="en-US" sz="1300">
                <a:solidFill>
                  <a:srgbClr val="1A6EBD"/>
                </a:solidFill>
              </a:rPr>
              <a:t>Research Gaps</a:t>
            </a:r>
            <a:endParaRPr b="0" i="0" sz="1300" u="none" cap="none" strike="noStrike">
              <a:solidFill>
                <a:schemeClr val="dk1"/>
              </a:solidFill>
              <a:latin typeface="Calibri"/>
              <a:ea typeface="Calibri"/>
              <a:cs typeface="Calibri"/>
              <a:sym typeface="Calibri"/>
            </a:endParaRPr>
          </a:p>
        </p:txBody>
      </p:sp>
      <p:sp>
        <p:nvSpPr>
          <p:cNvPr id="77" name="Google Shape;77;p5"/>
          <p:cNvSpPr/>
          <p:nvPr/>
        </p:nvSpPr>
        <p:spPr>
          <a:xfrm>
            <a:off x="4928575" y="1777775"/>
            <a:ext cx="3804000" cy="9876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lt1"/>
              </a:buClr>
              <a:buSzPts val="1300"/>
              <a:buFont typeface="Calibri"/>
              <a:buChar char="●"/>
            </a:pPr>
            <a:r>
              <a:rPr lang="en-US" sz="1200">
                <a:solidFill>
                  <a:schemeClr val="lt1"/>
                </a:solidFill>
                <a:latin typeface="Calibri"/>
                <a:ea typeface="Calibri"/>
                <a:cs typeface="Calibri"/>
                <a:sym typeface="Calibri"/>
              </a:rPr>
              <a:t>Limited research on moderate ergonomic variation (not just extreme postures)</a:t>
            </a:r>
            <a:endParaRPr sz="12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200">
                <a:solidFill>
                  <a:schemeClr val="lt1"/>
                </a:solidFill>
                <a:latin typeface="Calibri"/>
                <a:ea typeface="Calibri"/>
                <a:cs typeface="Calibri"/>
                <a:sym typeface="Calibri"/>
              </a:rPr>
              <a:t>No studies isolating seat clearance and reach distance together</a:t>
            </a:r>
            <a:endParaRPr sz="12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200">
                <a:solidFill>
                  <a:schemeClr val="lt1"/>
                </a:solidFill>
                <a:latin typeface="Calibri"/>
                <a:ea typeface="Calibri"/>
                <a:cs typeface="Calibri"/>
                <a:sym typeface="Calibri"/>
              </a:rPr>
              <a:t>Lack of integration between workload, posture, and performance metrics</a:t>
            </a:r>
            <a:endParaRPr sz="1200">
              <a:solidFill>
                <a:schemeClr val="lt1"/>
              </a:solidFill>
              <a:latin typeface="Calibri"/>
              <a:ea typeface="Calibri"/>
              <a:cs typeface="Calibri"/>
              <a:sym typeface="Calibri"/>
            </a:endParaRPr>
          </a:p>
          <a:p>
            <a:pPr indent="0" lvl="0" marL="0" marR="0" rtl="0" algn="l">
              <a:spcBef>
                <a:spcPts val="1200"/>
              </a:spcBef>
              <a:spcAft>
                <a:spcPts val="0"/>
              </a:spcAft>
              <a:buClr>
                <a:srgbClr val="8A8A8A"/>
              </a:buClr>
              <a:buSzPts val="1000"/>
              <a:buFont typeface="Arial"/>
              <a:buNone/>
            </a:pPr>
            <a:r>
              <a:t/>
            </a:r>
            <a:endParaRPr sz="1000">
              <a:solidFill>
                <a:srgbClr val="B7B7B7"/>
              </a:solidFill>
            </a:endParaRPr>
          </a:p>
        </p:txBody>
      </p:sp>
      <p:sp>
        <p:nvSpPr>
          <p:cNvPr id="78" name="Google Shape;78;p5"/>
          <p:cNvSpPr/>
          <p:nvPr/>
        </p:nvSpPr>
        <p:spPr>
          <a:xfrm>
            <a:off x="4745725" y="3193875"/>
            <a:ext cx="54900" cy="1506300"/>
          </a:xfrm>
          <a:prstGeom prst="rect">
            <a:avLst/>
          </a:prstGeom>
          <a:solidFill>
            <a:srgbClr val="F5832A"/>
          </a:solidFill>
          <a:ln cap="flat" cmpd="sng" w="12700">
            <a:solidFill>
              <a:srgbClr val="F58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4928573" y="3263004"/>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lang="en-US" sz="1300">
                <a:solidFill>
                  <a:srgbClr val="F5832A"/>
                </a:solidFill>
              </a:rPr>
              <a:t>Extending Prior Work</a:t>
            </a:r>
            <a:endParaRPr b="0" i="0" sz="1300" u="none" cap="none" strike="noStrike">
              <a:solidFill>
                <a:srgbClr val="F5832A"/>
              </a:solidFill>
              <a:latin typeface="Calibri"/>
              <a:ea typeface="Calibri"/>
              <a:cs typeface="Calibri"/>
              <a:sym typeface="Calibri"/>
            </a:endParaRPr>
          </a:p>
        </p:txBody>
      </p:sp>
      <p:sp>
        <p:nvSpPr>
          <p:cNvPr id="80" name="Google Shape;80;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85" name="Shape 85"/>
        <p:cNvGrpSpPr/>
        <p:nvPr/>
      </p:nvGrpSpPr>
      <p:grpSpPr>
        <a:xfrm>
          <a:off x="0" y="0"/>
          <a:ext cx="0" cy="0"/>
          <a:chOff x="0" y="0"/>
          <a:chExt cx="0" cy="0"/>
        </a:xfrm>
      </p:grpSpPr>
      <p:sp>
        <p:nvSpPr>
          <p:cNvPr id="86" name="Google Shape;86;p6"/>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INTRODUCTION</a:t>
            </a:r>
            <a:endParaRPr b="0" i="0" sz="900" u="none" cap="none" strike="noStrike">
              <a:solidFill>
                <a:schemeClr val="dk1"/>
              </a:solidFill>
              <a:latin typeface="Calibri"/>
              <a:ea typeface="Calibri"/>
              <a:cs typeface="Calibri"/>
              <a:sym typeface="Calibri"/>
            </a:endParaRPr>
          </a:p>
        </p:txBody>
      </p:sp>
      <p:sp>
        <p:nvSpPr>
          <p:cNvPr id="88" name="Google Shape;88;p6"/>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lang="en-US" sz="3400">
                <a:solidFill>
                  <a:srgbClr val="FFFFFF"/>
                </a:solidFill>
                <a:latin typeface="Arial Black"/>
                <a:ea typeface="Arial Black"/>
                <a:cs typeface="Arial Black"/>
                <a:sym typeface="Arial Black"/>
              </a:rPr>
              <a:t>Research Question and </a:t>
            </a:r>
            <a:r>
              <a:rPr b="1" lang="en-US" sz="3400">
                <a:solidFill>
                  <a:schemeClr val="lt1"/>
                </a:solidFill>
                <a:latin typeface="Arial Black"/>
                <a:ea typeface="Arial Black"/>
                <a:cs typeface="Arial Black"/>
                <a:sym typeface="Arial Black"/>
              </a:rPr>
              <a:t>Hypothesis</a:t>
            </a:r>
            <a:endParaRPr b="0" i="0" sz="3400" u="none" cap="none" strike="noStrike">
              <a:solidFill>
                <a:schemeClr val="dk1"/>
              </a:solidFill>
              <a:latin typeface="Calibri"/>
              <a:ea typeface="Calibri"/>
              <a:cs typeface="Calibri"/>
              <a:sym typeface="Calibri"/>
            </a:endParaRPr>
          </a:p>
        </p:txBody>
      </p:sp>
      <p:sp>
        <p:nvSpPr>
          <p:cNvPr id="89" name="Google Shape;89;p6"/>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91" name="Google Shape;91;p6"/>
          <p:cNvSpPr/>
          <p:nvPr/>
        </p:nvSpPr>
        <p:spPr>
          <a:xfrm>
            <a:off x="5669280" y="2441945"/>
            <a:ext cx="3108900" cy="2011800"/>
          </a:xfrm>
          <a:prstGeom prst="rect">
            <a:avLst/>
          </a:prstGeom>
          <a:solidFill>
            <a:srgbClr val="1A1A1A"/>
          </a:solidFill>
          <a:ln cap="flat" cmpd="sng" w="12700">
            <a:solidFill>
              <a:srgbClr val="1A6EB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6"/>
          <p:cNvGrpSpPr/>
          <p:nvPr/>
        </p:nvGrpSpPr>
        <p:grpSpPr>
          <a:xfrm>
            <a:off x="411475" y="2009825"/>
            <a:ext cx="5029200" cy="888903"/>
            <a:chOff x="411475" y="1501450"/>
            <a:chExt cx="5029200" cy="888903"/>
          </a:xfrm>
        </p:grpSpPr>
        <p:sp>
          <p:nvSpPr>
            <p:cNvPr id="93" name="Google Shape;93;p6"/>
            <p:cNvSpPr/>
            <p:nvPr/>
          </p:nvSpPr>
          <p:spPr>
            <a:xfrm>
              <a:off x="411475" y="1501453"/>
              <a:ext cx="5029200" cy="8889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411475" y="1501450"/>
              <a:ext cx="54900" cy="8889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653717" y="1796060"/>
              <a:ext cx="17373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lang="en-US" sz="1100">
                  <a:solidFill>
                    <a:srgbClr val="F5832A"/>
                  </a:solidFill>
                  <a:latin typeface="Calibri"/>
                  <a:ea typeface="Calibri"/>
                  <a:cs typeface="Calibri"/>
                  <a:sym typeface="Calibri"/>
                </a:rPr>
                <a:t>H1 (Seat Fit)</a:t>
              </a:r>
              <a:endParaRPr b="1" i="0" sz="1100" u="none" cap="none" strike="noStrike">
                <a:solidFill>
                  <a:srgbClr val="F5832A"/>
                </a:solidFill>
                <a:latin typeface="Calibri"/>
                <a:ea typeface="Calibri"/>
                <a:cs typeface="Calibri"/>
                <a:sym typeface="Calibri"/>
              </a:endParaRPr>
            </a:p>
          </p:txBody>
        </p:sp>
        <p:sp>
          <p:nvSpPr>
            <p:cNvPr id="96" name="Google Shape;96;p6"/>
            <p:cNvSpPr/>
            <p:nvPr/>
          </p:nvSpPr>
          <p:spPr>
            <a:xfrm>
              <a:off x="2269500" y="1548849"/>
              <a:ext cx="2988300" cy="84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lang="en-US" sz="1300">
                  <a:solidFill>
                    <a:schemeClr val="lt1"/>
                  </a:solidFill>
                  <a:latin typeface="Calibri"/>
                  <a:ea typeface="Calibri"/>
                  <a:cs typeface="Calibri"/>
                  <a:sym typeface="Calibri"/>
                </a:rPr>
                <a:t>Optimal seat clearance (+2 cm) will significantly outperform undersized and oversized conditions across all four dependent variables. </a:t>
              </a:r>
              <a:endParaRPr i="0" sz="1300" u="none" cap="none" strike="noStrike">
                <a:solidFill>
                  <a:schemeClr val="lt1"/>
                </a:solidFill>
                <a:latin typeface="Calibri"/>
                <a:ea typeface="Calibri"/>
                <a:cs typeface="Calibri"/>
                <a:sym typeface="Calibri"/>
              </a:endParaRPr>
            </a:p>
          </p:txBody>
        </p:sp>
      </p:grpSp>
      <p:grpSp>
        <p:nvGrpSpPr>
          <p:cNvPr id="97" name="Google Shape;97;p6"/>
          <p:cNvGrpSpPr/>
          <p:nvPr/>
        </p:nvGrpSpPr>
        <p:grpSpPr>
          <a:xfrm>
            <a:off x="411475" y="3003263"/>
            <a:ext cx="5029200" cy="889049"/>
            <a:chOff x="411475" y="2463188"/>
            <a:chExt cx="5029200" cy="889049"/>
          </a:xfrm>
        </p:grpSpPr>
        <p:sp>
          <p:nvSpPr>
            <p:cNvPr id="98" name="Google Shape;98;p6"/>
            <p:cNvSpPr/>
            <p:nvPr/>
          </p:nvSpPr>
          <p:spPr>
            <a:xfrm>
              <a:off x="411475" y="2463337"/>
              <a:ext cx="5029200" cy="8889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411475" y="2463188"/>
              <a:ext cx="54900" cy="8889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40067" y="2770608"/>
              <a:ext cx="17373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lang="en-US" sz="1100">
                  <a:solidFill>
                    <a:srgbClr val="1A6EBD"/>
                  </a:solidFill>
                </a:rPr>
                <a:t>H2 (Wheel Reach)</a:t>
              </a:r>
              <a:endParaRPr b="0" i="0" sz="1100" u="none" cap="none" strike="noStrike">
                <a:solidFill>
                  <a:schemeClr val="dk1"/>
                </a:solidFill>
                <a:latin typeface="Calibri"/>
                <a:ea typeface="Calibri"/>
                <a:cs typeface="Calibri"/>
                <a:sym typeface="Calibri"/>
              </a:endParaRPr>
            </a:p>
          </p:txBody>
        </p:sp>
        <p:sp>
          <p:nvSpPr>
            <p:cNvPr id="101" name="Google Shape;101;p6"/>
            <p:cNvSpPr/>
            <p:nvPr/>
          </p:nvSpPr>
          <p:spPr>
            <a:xfrm>
              <a:off x="2269500" y="2504875"/>
              <a:ext cx="2988300" cy="78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lang="en-US" sz="1300">
                  <a:solidFill>
                    <a:schemeClr val="lt1"/>
                  </a:solidFill>
                  <a:latin typeface="Calibri"/>
                  <a:ea typeface="Calibri"/>
                  <a:cs typeface="Calibri"/>
                  <a:sym typeface="Calibri"/>
                </a:rPr>
                <a:t>Moderate reach distance (0 cm offset) will significantly outperform close and far conditions across all four dependent variables. </a:t>
              </a:r>
              <a:endParaRPr i="0" sz="1300" u="none" cap="none" strike="noStrike">
                <a:solidFill>
                  <a:schemeClr val="lt1"/>
                </a:solidFill>
                <a:latin typeface="Calibri"/>
                <a:ea typeface="Calibri"/>
                <a:cs typeface="Calibri"/>
                <a:sym typeface="Calibri"/>
              </a:endParaRPr>
            </a:p>
          </p:txBody>
        </p:sp>
      </p:grpSp>
      <p:grpSp>
        <p:nvGrpSpPr>
          <p:cNvPr id="102" name="Google Shape;102;p6"/>
          <p:cNvGrpSpPr/>
          <p:nvPr/>
        </p:nvGrpSpPr>
        <p:grpSpPr>
          <a:xfrm>
            <a:off x="411475" y="3996850"/>
            <a:ext cx="5029200" cy="876901"/>
            <a:chOff x="411475" y="3529625"/>
            <a:chExt cx="5029200" cy="876901"/>
          </a:xfrm>
        </p:grpSpPr>
        <p:sp>
          <p:nvSpPr>
            <p:cNvPr id="103" name="Google Shape;103;p6"/>
            <p:cNvSpPr/>
            <p:nvPr/>
          </p:nvSpPr>
          <p:spPr>
            <a:xfrm>
              <a:off x="411475" y="3529625"/>
              <a:ext cx="5029200" cy="8769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411475" y="3529625"/>
              <a:ext cx="54900" cy="876900"/>
            </a:xfrm>
            <a:prstGeom prst="rect">
              <a:avLst/>
            </a:prstGeom>
            <a:solidFill>
              <a:srgbClr val="F5832A"/>
            </a:solidFill>
            <a:ln cap="flat" cmpd="sng" w="12700">
              <a:solidFill>
                <a:srgbClr val="F58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653725" y="3832353"/>
              <a:ext cx="1710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832A"/>
                </a:buClr>
                <a:buSzPts val="1100"/>
                <a:buFont typeface="Arial"/>
                <a:buNone/>
              </a:pPr>
              <a:r>
                <a:rPr b="1" lang="en-US" sz="1100">
                  <a:solidFill>
                    <a:srgbClr val="F5832A"/>
                  </a:solidFill>
                </a:rPr>
                <a:t>H3 (Interaction)</a:t>
              </a:r>
              <a:endParaRPr b="0" i="0" sz="1100" u="none" cap="none" strike="noStrike">
                <a:solidFill>
                  <a:schemeClr val="dk1"/>
                </a:solidFill>
                <a:latin typeface="Calibri"/>
                <a:ea typeface="Calibri"/>
                <a:cs typeface="Calibri"/>
                <a:sym typeface="Calibri"/>
              </a:endParaRPr>
            </a:p>
          </p:txBody>
        </p:sp>
        <p:sp>
          <p:nvSpPr>
            <p:cNvPr id="106" name="Google Shape;106;p6"/>
            <p:cNvSpPr/>
            <p:nvPr/>
          </p:nvSpPr>
          <p:spPr>
            <a:xfrm>
              <a:off x="2279125" y="3596213"/>
              <a:ext cx="2988300" cy="62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lang="en-US" sz="1300">
                  <a:solidFill>
                    <a:schemeClr val="lt1"/>
                  </a:solidFill>
                  <a:latin typeface="Calibri"/>
                  <a:ea typeface="Calibri"/>
                  <a:cs typeface="Calibri"/>
                  <a:sym typeface="Calibri"/>
                </a:rPr>
                <a:t>A significant interaction effect will exist, where the combination of optimal seat and moderate reach will produce the best outcomes overall. </a:t>
              </a:r>
              <a:endParaRPr i="0" sz="1300" u="none" cap="none" strike="noStrike">
                <a:solidFill>
                  <a:schemeClr val="lt1"/>
                </a:solidFill>
                <a:latin typeface="Calibri"/>
                <a:ea typeface="Calibri"/>
                <a:cs typeface="Calibri"/>
                <a:sym typeface="Calibri"/>
              </a:endParaRPr>
            </a:p>
          </p:txBody>
        </p:sp>
      </p:grpSp>
      <p:grpSp>
        <p:nvGrpSpPr>
          <p:cNvPr id="107" name="Google Shape;107;p6"/>
          <p:cNvGrpSpPr/>
          <p:nvPr/>
        </p:nvGrpSpPr>
        <p:grpSpPr>
          <a:xfrm>
            <a:off x="411402" y="1436070"/>
            <a:ext cx="8321100" cy="483404"/>
            <a:chOff x="411455" y="4462118"/>
            <a:chExt cx="8321100" cy="438900"/>
          </a:xfrm>
        </p:grpSpPr>
        <p:sp>
          <p:nvSpPr>
            <p:cNvPr id="108" name="Google Shape;108;p6"/>
            <p:cNvSpPr/>
            <p:nvPr/>
          </p:nvSpPr>
          <p:spPr>
            <a:xfrm>
              <a:off x="411455" y="4462118"/>
              <a:ext cx="8321100" cy="438900"/>
            </a:xfrm>
            <a:prstGeom prst="rect">
              <a:avLst/>
            </a:prstGeom>
            <a:solidFill>
              <a:srgbClr val="0A2540"/>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594335" y="4553558"/>
              <a:ext cx="1828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i="0" lang="en-US" sz="1100" u="none" cap="none" strike="noStrike">
                  <a:solidFill>
                    <a:srgbClr val="E8600A"/>
                  </a:solidFill>
                  <a:latin typeface="Arial"/>
                  <a:ea typeface="Arial"/>
                  <a:cs typeface="Arial"/>
                  <a:sym typeface="Arial"/>
                </a:rPr>
                <a:t>Research Question: </a:t>
              </a:r>
              <a:endParaRPr b="0" i="0" sz="1100" u="none" cap="none" strike="noStrike">
                <a:solidFill>
                  <a:schemeClr val="dk1"/>
                </a:solidFill>
                <a:latin typeface="Calibri"/>
                <a:ea typeface="Calibri"/>
                <a:cs typeface="Calibri"/>
                <a:sym typeface="Calibri"/>
              </a:endParaRPr>
            </a:p>
          </p:txBody>
        </p:sp>
        <p:sp>
          <p:nvSpPr>
            <p:cNvPr id="110" name="Google Shape;110;p6"/>
            <p:cNvSpPr/>
            <p:nvPr/>
          </p:nvSpPr>
          <p:spPr>
            <a:xfrm>
              <a:off x="2847726" y="4498553"/>
              <a:ext cx="5747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lang="en-US" sz="1200">
                  <a:solidFill>
                    <a:srgbClr val="FFFFFF"/>
                  </a:solidFill>
                  <a:latin typeface="Calibri"/>
                  <a:ea typeface="Calibri"/>
                  <a:cs typeface="Calibri"/>
                  <a:sym typeface="Calibri"/>
                </a:rPr>
                <a:t>How do seat clearance and steering wheel reach distance affect race car driver performance, comfort, and perceived workload in a controlled simulator environment? </a:t>
              </a:r>
              <a:endParaRPr i="0" sz="1200" u="none" cap="none" strike="noStrike">
                <a:solidFill>
                  <a:schemeClr val="dk1"/>
                </a:solidFill>
                <a:latin typeface="Calibri"/>
                <a:ea typeface="Calibri"/>
                <a:cs typeface="Calibri"/>
                <a:sym typeface="Calibri"/>
              </a:endParaRPr>
            </a:p>
          </p:txBody>
        </p:sp>
      </p:grpSp>
      <p:pic>
        <p:nvPicPr>
          <p:cNvPr id="111" name="Google Shape;111;p6" title="Design-DrivingPosition-Content3.jpg"/>
          <p:cNvPicPr preferRelativeResize="0"/>
          <p:nvPr/>
        </p:nvPicPr>
        <p:blipFill>
          <a:blip r:embed="rId3">
            <a:alphaModFix/>
          </a:blip>
          <a:stretch>
            <a:fillRect/>
          </a:stretch>
        </p:blipFill>
        <p:spPr>
          <a:xfrm>
            <a:off x="5630350" y="2246486"/>
            <a:ext cx="3186750" cy="2402725"/>
          </a:xfrm>
          <a:prstGeom prst="rect">
            <a:avLst/>
          </a:prstGeom>
          <a:solidFill>
            <a:srgbClr val="1A1A1A"/>
          </a:solidFill>
          <a:ln cap="flat" cmpd="sng" w="12700">
            <a:solidFill>
              <a:srgbClr val="1A6EBD"/>
            </a:solidFill>
            <a:prstDash val="dash"/>
            <a:round/>
            <a:headEnd len="sm" w="sm" type="none"/>
            <a:tailEnd len="sm" w="sm" type="none"/>
          </a:ln>
        </p:spPr>
      </p:pic>
      <p:sp>
        <p:nvSpPr>
          <p:cNvPr id="112" name="Google Shape;112;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117" name="Shape 117"/>
        <p:cNvGrpSpPr/>
        <p:nvPr/>
      </p:nvGrpSpPr>
      <p:grpSpPr>
        <a:xfrm>
          <a:off x="0" y="0"/>
          <a:ext cx="0" cy="0"/>
          <a:chOff x="0" y="0"/>
          <a:chExt cx="0" cy="0"/>
        </a:xfrm>
      </p:grpSpPr>
      <p:sp>
        <p:nvSpPr>
          <p:cNvPr id="118" name="Google Shape;118;p7"/>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METHODS</a:t>
            </a:r>
            <a:endParaRPr b="0" i="0" sz="900" u="none" cap="none" strike="noStrike">
              <a:solidFill>
                <a:schemeClr val="dk1"/>
              </a:solidFill>
              <a:latin typeface="Calibri"/>
              <a:ea typeface="Calibri"/>
              <a:cs typeface="Calibri"/>
              <a:sym typeface="Calibri"/>
            </a:endParaRPr>
          </a:p>
        </p:txBody>
      </p:sp>
      <p:sp>
        <p:nvSpPr>
          <p:cNvPr id="120" name="Google Shape;120;p7"/>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Independent Variables </a:t>
            </a:r>
            <a:endParaRPr b="0" i="0" sz="3400" u="none" cap="none" strike="noStrike">
              <a:solidFill>
                <a:schemeClr val="dk1"/>
              </a:solidFill>
              <a:latin typeface="Calibri"/>
              <a:ea typeface="Calibri"/>
              <a:cs typeface="Calibri"/>
              <a:sym typeface="Calibri"/>
            </a:endParaRPr>
          </a:p>
        </p:txBody>
      </p:sp>
      <p:sp>
        <p:nvSpPr>
          <p:cNvPr id="121" name="Google Shape;121;p7"/>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123" name="Google Shape;123;p7"/>
          <p:cNvSpPr/>
          <p:nvPr/>
        </p:nvSpPr>
        <p:spPr>
          <a:xfrm>
            <a:off x="411480" y="1463040"/>
            <a:ext cx="411480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400"/>
              <a:buFont typeface="Arial"/>
              <a:buNone/>
            </a:pPr>
            <a:r>
              <a:rPr b="1" i="0" lang="en-US" sz="1400" u="none" cap="none" strike="noStrike">
                <a:solidFill>
                  <a:srgbClr val="1A6EBD"/>
                </a:solidFill>
                <a:latin typeface="Arial"/>
                <a:ea typeface="Arial"/>
                <a:cs typeface="Arial"/>
                <a:sym typeface="Arial"/>
              </a:rPr>
              <a:t>IV1 — Seat Clearance</a:t>
            </a:r>
            <a:endParaRPr b="0" i="0" sz="1400" u="none" cap="none" strike="noStrike">
              <a:solidFill>
                <a:schemeClr val="dk1"/>
              </a:solidFill>
              <a:latin typeface="Calibri"/>
              <a:ea typeface="Calibri"/>
              <a:cs typeface="Calibri"/>
              <a:sym typeface="Calibri"/>
            </a:endParaRPr>
          </a:p>
        </p:txBody>
      </p:sp>
      <p:sp>
        <p:nvSpPr>
          <p:cNvPr id="124" name="Google Shape;124;p7"/>
          <p:cNvSpPr/>
          <p:nvPr/>
        </p:nvSpPr>
        <p:spPr>
          <a:xfrm>
            <a:off x="411480" y="1708716"/>
            <a:ext cx="41148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lang="en-US" sz="1100">
                <a:solidFill>
                  <a:srgbClr val="B7B7B7"/>
                </a:solidFill>
                <a:latin typeface="Calibri"/>
                <a:ea typeface="Calibri"/>
                <a:cs typeface="Calibri"/>
                <a:sym typeface="Calibri"/>
              </a:rPr>
              <a:t>The difference between the participant's hip breadth and the width of the seat</a:t>
            </a:r>
            <a:endParaRPr i="0" sz="1100" u="none" cap="none" strike="noStrike">
              <a:solidFill>
                <a:srgbClr val="B7B7B7"/>
              </a:solidFill>
              <a:latin typeface="Calibri"/>
              <a:ea typeface="Calibri"/>
              <a:cs typeface="Calibri"/>
              <a:sym typeface="Calibri"/>
            </a:endParaRPr>
          </a:p>
        </p:txBody>
      </p:sp>
      <p:sp>
        <p:nvSpPr>
          <p:cNvPr id="125" name="Google Shape;125;p7"/>
          <p:cNvSpPr/>
          <p:nvPr/>
        </p:nvSpPr>
        <p:spPr>
          <a:xfrm>
            <a:off x="411480" y="2121408"/>
            <a:ext cx="411480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411480" y="2121408"/>
            <a:ext cx="54864" cy="713232"/>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621792" y="2212848"/>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200"/>
              <a:buFont typeface="Arial"/>
              <a:buNone/>
            </a:pPr>
            <a:r>
              <a:rPr b="1" i="0" lang="en-US" sz="1200" u="none" cap="none" strike="noStrike">
                <a:solidFill>
                  <a:srgbClr val="E8600A"/>
                </a:solidFill>
                <a:latin typeface="Arial"/>
                <a:ea typeface="Arial"/>
                <a:cs typeface="Arial"/>
                <a:sym typeface="Arial"/>
              </a:rPr>
              <a:t>Undersized</a:t>
            </a:r>
            <a:endParaRPr b="0" i="0" sz="1200" u="none" cap="none" strike="noStrike">
              <a:solidFill>
                <a:schemeClr val="dk1"/>
              </a:solidFill>
              <a:latin typeface="Calibri"/>
              <a:ea typeface="Calibri"/>
              <a:cs typeface="Calibri"/>
              <a:sym typeface="Calibri"/>
            </a:endParaRPr>
          </a:p>
        </p:txBody>
      </p:sp>
      <p:sp>
        <p:nvSpPr>
          <p:cNvPr id="128" name="Google Shape;128;p7"/>
          <p:cNvSpPr/>
          <p:nvPr/>
        </p:nvSpPr>
        <p:spPr>
          <a:xfrm>
            <a:off x="2103120" y="2212848"/>
            <a:ext cx="822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 cm</a:t>
            </a:r>
            <a:endParaRPr b="0" i="0" sz="1600" u="none" cap="none" strike="noStrike">
              <a:solidFill>
                <a:schemeClr val="dk1"/>
              </a:solidFill>
              <a:latin typeface="Calibri"/>
              <a:ea typeface="Calibri"/>
              <a:cs typeface="Calibri"/>
              <a:sym typeface="Calibri"/>
            </a:endParaRPr>
          </a:p>
        </p:txBody>
      </p:sp>
      <p:sp>
        <p:nvSpPr>
          <p:cNvPr id="129" name="Google Shape;129;p7"/>
          <p:cNvSpPr/>
          <p:nvPr/>
        </p:nvSpPr>
        <p:spPr>
          <a:xfrm>
            <a:off x="621792" y="2523744"/>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rgbClr val="B7B7B7"/>
                </a:solidFill>
                <a:latin typeface="Calibri"/>
                <a:ea typeface="Calibri"/>
                <a:cs typeface="Calibri"/>
                <a:sym typeface="Calibri"/>
              </a:rPr>
              <a:t>Compressed posture, restricted ROM</a:t>
            </a:r>
            <a:endParaRPr i="0" sz="1100" u="none" cap="none" strike="noStrike">
              <a:solidFill>
                <a:srgbClr val="B7B7B7"/>
              </a:solidFill>
              <a:latin typeface="Calibri"/>
              <a:ea typeface="Calibri"/>
              <a:cs typeface="Calibri"/>
              <a:sym typeface="Calibri"/>
            </a:endParaRPr>
          </a:p>
        </p:txBody>
      </p:sp>
      <p:sp>
        <p:nvSpPr>
          <p:cNvPr id="130" name="Google Shape;130;p7"/>
          <p:cNvSpPr/>
          <p:nvPr/>
        </p:nvSpPr>
        <p:spPr>
          <a:xfrm>
            <a:off x="411480" y="2962656"/>
            <a:ext cx="411480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411480" y="2962656"/>
            <a:ext cx="54864" cy="713232"/>
          </a:xfrm>
          <a:prstGeom prst="rect">
            <a:avLst/>
          </a:prstGeom>
          <a:solidFill>
            <a:srgbClr val="18A558"/>
          </a:solidFill>
          <a:ln cap="flat" cmpd="sng" w="12700">
            <a:solidFill>
              <a:srgbClr val="18A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621792" y="3054096"/>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A558"/>
              </a:buClr>
              <a:buSzPts val="1200"/>
              <a:buFont typeface="Arial"/>
              <a:buNone/>
            </a:pPr>
            <a:r>
              <a:rPr b="1" i="0" lang="en-US" sz="1200" u="none" cap="none" strike="noStrike">
                <a:solidFill>
                  <a:srgbClr val="18A558"/>
                </a:solidFill>
                <a:latin typeface="Arial"/>
                <a:ea typeface="Arial"/>
                <a:cs typeface="Arial"/>
                <a:sym typeface="Arial"/>
              </a:rPr>
              <a:t>Optimal</a:t>
            </a:r>
            <a:endParaRPr b="0" i="0" sz="1200" u="none" cap="none" strike="noStrike">
              <a:solidFill>
                <a:schemeClr val="dk1"/>
              </a:solidFill>
              <a:latin typeface="Calibri"/>
              <a:ea typeface="Calibri"/>
              <a:cs typeface="Calibri"/>
              <a:sym typeface="Calibri"/>
            </a:endParaRPr>
          </a:p>
        </p:txBody>
      </p:sp>
      <p:sp>
        <p:nvSpPr>
          <p:cNvPr id="133" name="Google Shape;133;p7"/>
          <p:cNvSpPr/>
          <p:nvPr/>
        </p:nvSpPr>
        <p:spPr>
          <a:xfrm>
            <a:off x="2103120" y="3054096"/>
            <a:ext cx="822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 cm</a:t>
            </a:r>
            <a:endParaRPr b="0" i="0" sz="1600" u="none" cap="none" strike="noStrike">
              <a:solidFill>
                <a:schemeClr val="dk1"/>
              </a:solidFill>
              <a:latin typeface="Calibri"/>
              <a:ea typeface="Calibri"/>
              <a:cs typeface="Calibri"/>
              <a:sym typeface="Calibri"/>
            </a:endParaRPr>
          </a:p>
        </p:txBody>
      </p:sp>
      <p:sp>
        <p:nvSpPr>
          <p:cNvPr id="134" name="Google Shape;134;p7"/>
          <p:cNvSpPr/>
          <p:nvPr/>
        </p:nvSpPr>
        <p:spPr>
          <a:xfrm>
            <a:off x="621792" y="3364992"/>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rgbClr val="B7B7B7"/>
                </a:solidFill>
                <a:latin typeface="Calibri"/>
                <a:ea typeface="Calibri"/>
                <a:cs typeface="Calibri"/>
                <a:sym typeface="Calibri"/>
              </a:rPr>
              <a:t>Natural posture, proper lateral support</a:t>
            </a:r>
            <a:endParaRPr i="0" sz="1100" u="none" cap="none" strike="noStrike">
              <a:solidFill>
                <a:srgbClr val="B7B7B7"/>
              </a:solidFill>
              <a:latin typeface="Calibri"/>
              <a:ea typeface="Calibri"/>
              <a:cs typeface="Calibri"/>
              <a:sym typeface="Calibri"/>
            </a:endParaRPr>
          </a:p>
        </p:txBody>
      </p:sp>
      <p:sp>
        <p:nvSpPr>
          <p:cNvPr id="135" name="Google Shape;135;p7"/>
          <p:cNvSpPr/>
          <p:nvPr/>
        </p:nvSpPr>
        <p:spPr>
          <a:xfrm>
            <a:off x="411480" y="3803904"/>
            <a:ext cx="411480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411480" y="3803904"/>
            <a:ext cx="54864" cy="713232"/>
          </a:xfrm>
          <a:prstGeom prst="rect">
            <a:avLst/>
          </a:prstGeom>
          <a:solidFill>
            <a:srgbClr val="D4A017"/>
          </a:solidFill>
          <a:ln cap="flat" cmpd="sng" w="12700">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621792" y="3895344"/>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017"/>
              </a:buClr>
              <a:buSzPts val="1200"/>
              <a:buFont typeface="Arial"/>
              <a:buNone/>
            </a:pPr>
            <a:r>
              <a:rPr b="1" i="0" lang="en-US" sz="1200" u="none" cap="none" strike="noStrike">
                <a:solidFill>
                  <a:srgbClr val="D4A017"/>
                </a:solidFill>
                <a:latin typeface="Arial"/>
                <a:ea typeface="Arial"/>
                <a:cs typeface="Arial"/>
                <a:sym typeface="Arial"/>
              </a:rPr>
              <a:t>Oversized</a:t>
            </a:r>
            <a:endParaRPr b="0" i="0" sz="1200" u="none" cap="none" strike="noStrike">
              <a:solidFill>
                <a:schemeClr val="dk1"/>
              </a:solidFill>
              <a:latin typeface="Calibri"/>
              <a:ea typeface="Calibri"/>
              <a:cs typeface="Calibri"/>
              <a:sym typeface="Calibri"/>
            </a:endParaRPr>
          </a:p>
        </p:txBody>
      </p:sp>
      <p:sp>
        <p:nvSpPr>
          <p:cNvPr id="138" name="Google Shape;138;p7"/>
          <p:cNvSpPr/>
          <p:nvPr/>
        </p:nvSpPr>
        <p:spPr>
          <a:xfrm>
            <a:off x="2103120" y="3895344"/>
            <a:ext cx="822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+6 cm</a:t>
            </a:r>
            <a:endParaRPr b="0" i="0" sz="1600" u="none" cap="none" strike="noStrike">
              <a:solidFill>
                <a:schemeClr val="dk1"/>
              </a:solidFill>
              <a:latin typeface="Calibri"/>
              <a:ea typeface="Calibri"/>
              <a:cs typeface="Calibri"/>
              <a:sym typeface="Calibri"/>
            </a:endParaRPr>
          </a:p>
        </p:txBody>
      </p:sp>
      <p:sp>
        <p:nvSpPr>
          <p:cNvPr id="139" name="Google Shape;139;p7"/>
          <p:cNvSpPr/>
          <p:nvPr/>
        </p:nvSpPr>
        <p:spPr>
          <a:xfrm>
            <a:off x="621792" y="420624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rgbClr val="B7B7B7"/>
                </a:solidFill>
                <a:latin typeface="Calibri"/>
                <a:ea typeface="Calibri"/>
                <a:cs typeface="Calibri"/>
                <a:sym typeface="Calibri"/>
              </a:rPr>
              <a:t>Excess space, compensatory stabilization</a:t>
            </a:r>
            <a:endParaRPr i="0" sz="1100" u="none" cap="none" strike="noStrike">
              <a:solidFill>
                <a:srgbClr val="B7B7B7"/>
              </a:solidFill>
              <a:latin typeface="Calibri"/>
              <a:ea typeface="Calibri"/>
              <a:cs typeface="Calibri"/>
              <a:sym typeface="Calibri"/>
            </a:endParaRPr>
          </a:p>
        </p:txBody>
      </p:sp>
      <p:cxnSp>
        <p:nvCxnSpPr>
          <p:cNvPr id="140" name="Google Shape;140;p7"/>
          <p:cNvCxnSpPr/>
          <p:nvPr/>
        </p:nvCxnSpPr>
        <p:spPr>
          <a:xfrm>
            <a:off x="4663440" y="1444752"/>
            <a:ext cx="0" cy="3337560"/>
          </a:xfrm>
          <a:prstGeom prst="straightConnector1">
            <a:avLst/>
          </a:prstGeom>
          <a:noFill/>
          <a:ln cap="flat" cmpd="sng" w="12700">
            <a:solidFill>
              <a:srgbClr val="252525"/>
            </a:solidFill>
            <a:prstDash val="solid"/>
            <a:round/>
            <a:headEnd len="sm" w="sm" type="none"/>
            <a:tailEnd len="sm" w="sm" type="none"/>
          </a:ln>
        </p:spPr>
      </p:cxnSp>
      <p:sp>
        <p:nvSpPr>
          <p:cNvPr id="141" name="Google Shape;141;p7"/>
          <p:cNvSpPr/>
          <p:nvPr/>
        </p:nvSpPr>
        <p:spPr>
          <a:xfrm>
            <a:off x="4800600" y="1463040"/>
            <a:ext cx="411480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400"/>
              <a:buFont typeface="Arial"/>
              <a:buNone/>
            </a:pPr>
            <a:r>
              <a:rPr b="1" i="0" lang="en-US" sz="1400" u="none" cap="none" strike="noStrike">
                <a:solidFill>
                  <a:srgbClr val="E8600A"/>
                </a:solidFill>
                <a:latin typeface="Arial"/>
                <a:ea typeface="Arial"/>
                <a:cs typeface="Arial"/>
                <a:sym typeface="Arial"/>
              </a:rPr>
              <a:t>IV2 — Steering Wheel Reach</a:t>
            </a:r>
            <a:endParaRPr b="0" i="0" sz="1400" u="none" cap="none" strike="noStrike">
              <a:solidFill>
                <a:schemeClr val="dk1"/>
              </a:solidFill>
              <a:latin typeface="Calibri"/>
              <a:ea typeface="Calibri"/>
              <a:cs typeface="Calibri"/>
              <a:sym typeface="Calibri"/>
            </a:endParaRPr>
          </a:p>
        </p:txBody>
      </p:sp>
      <p:sp>
        <p:nvSpPr>
          <p:cNvPr id="142" name="Google Shape;142;p7"/>
          <p:cNvSpPr/>
          <p:nvPr/>
        </p:nvSpPr>
        <p:spPr>
          <a:xfrm>
            <a:off x="4800600" y="1708716"/>
            <a:ext cx="41148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lang="en-US" sz="1100">
                <a:solidFill>
                  <a:srgbClr val="B7B7B7"/>
                </a:solidFill>
                <a:latin typeface="Calibri"/>
                <a:ea typeface="Calibri"/>
                <a:cs typeface="Calibri"/>
                <a:sym typeface="Calibri"/>
              </a:rPr>
              <a:t>The horizontal distance from the driver's seat back to the steering wheel, adjusted relative to the participant's functional arm reach</a:t>
            </a:r>
            <a:endParaRPr i="0" sz="1100" u="none" cap="none" strike="noStrike">
              <a:solidFill>
                <a:srgbClr val="B7B7B7"/>
              </a:solidFill>
              <a:latin typeface="Calibri"/>
              <a:ea typeface="Calibri"/>
              <a:cs typeface="Calibri"/>
              <a:sym typeface="Calibri"/>
            </a:endParaRPr>
          </a:p>
        </p:txBody>
      </p:sp>
      <p:sp>
        <p:nvSpPr>
          <p:cNvPr id="143" name="Google Shape;143;p7"/>
          <p:cNvSpPr/>
          <p:nvPr/>
        </p:nvSpPr>
        <p:spPr>
          <a:xfrm>
            <a:off x="4800600" y="2121408"/>
            <a:ext cx="411480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4800600" y="2121408"/>
            <a:ext cx="54864" cy="713232"/>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5010912" y="2212848"/>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200"/>
              <a:buFont typeface="Arial"/>
              <a:buNone/>
            </a:pPr>
            <a:r>
              <a:rPr b="1" i="0" lang="en-US" sz="1200" u="none" cap="none" strike="noStrike">
                <a:solidFill>
                  <a:srgbClr val="E8600A"/>
                </a:solidFill>
                <a:latin typeface="Arial"/>
                <a:ea typeface="Arial"/>
                <a:cs typeface="Arial"/>
                <a:sym typeface="Arial"/>
              </a:rPr>
              <a:t>Close</a:t>
            </a:r>
            <a:endParaRPr b="0" i="0" sz="1200" u="none" cap="none" strike="noStrike">
              <a:solidFill>
                <a:schemeClr val="dk1"/>
              </a:solidFill>
              <a:latin typeface="Calibri"/>
              <a:ea typeface="Calibri"/>
              <a:cs typeface="Calibri"/>
              <a:sym typeface="Calibri"/>
            </a:endParaRPr>
          </a:p>
        </p:txBody>
      </p:sp>
      <p:sp>
        <p:nvSpPr>
          <p:cNvPr id="146" name="Google Shape;146;p7"/>
          <p:cNvSpPr/>
          <p:nvPr/>
        </p:nvSpPr>
        <p:spPr>
          <a:xfrm>
            <a:off x="6492240" y="2212848"/>
            <a:ext cx="822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 cm</a:t>
            </a:r>
            <a:endParaRPr b="0" i="0" sz="1600" u="none" cap="none" strike="noStrike">
              <a:solidFill>
                <a:schemeClr val="dk1"/>
              </a:solidFill>
              <a:latin typeface="Calibri"/>
              <a:ea typeface="Calibri"/>
              <a:cs typeface="Calibri"/>
              <a:sym typeface="Calibri"/>
            </a:endParaRPr>
          </a:p>
        </p:txBody>
      </p:sp>
      <p:sp>
        <p:nvSpPr>
          <p:cNvPr id="147" name="Google Shape;147;p7"/>
          <p:cNvSpPr/>
          <p:nvPr/>
        </p:nvSpPr>
        <p:spPr>
          <a:xfrm>
            <a:off x="5010912" y="2523744"/>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000" u="none" cap="none" strike="noStrike">
                <a:solidFill>
                  <a:srgbClr val="B7B7B7"/>
                </a:solidFill>
                <a:latin typeface="Calibri"/>
                <a:ea typeface="Calibri"/>
                <a:cs typeface="Calibri"/>
                <a:sym typeface="Calibri"/>
              </a:rPr>
              <a:t>Cramped arms, shoulder &amp; wrist strain</a:t>
            </a:r>
            <a:endParaRPr i="0" sz="1000" u="none" cap="none" strike="noStrike">
              <a:solidFill>
                <a:srgbClr val="B7B7B7"/>
              </a:solidFill>
              <a:latin typeface="Calibri"/>
              <a:ea typeface="Calibri"/>
              <a:cs typeface="Calibri"/>
              <a:sym typeface="Calibri"/>
            </a:endParaRPr>
          </a:p>
        </p:txBody>
      </p:sp>
      <p:sp>
        <p:nvSpPr>
          <p:cNvPr id="148" name="Google Shape;148;p7"/>
          <p:cNvSpPr/>
          <p:nvPr/>
        </p:nvSpPr>
        <p:spPr>
          <a:xfrm>
            <a:off x="4800600" y="2962656"/>
            <a:ext cx="411480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4800600" y="2962656"/>
            <a:ext cx="54864" cy="713232"/>
          </a:xfrm>
          <a:prstGeom prst="rect">
            <a:avLst/>
          </a:prstGeom>
          <a:solidFill>
            <a:srgbClr val="18A558"/>
          </a:solidFill>
          <a:ln cap="flat" cmpd="sng" w="12700">
            <a:solidFill>
              <a:srgbClr val="18A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5010912" y="3054096"/>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A558"/>
              </a:buClr>
              <a:buSzPts val="1200"/>
              <a:buFont typeface="Arial"/>
              <a:buNone/>
            </a:pPr>
            <a:r>
              <a:rPr b="1" i="0" lang="en-US" sz="1200" u="none" cap="none" strike="noStrike">
                <a:solidFill>
                  <a:srgbClr val="18A558"/>
                </a:solidFill>
                <a:latin typeface="Arial"/>
                <a:ea typeface="Arial"/>
                <a:cs typeface="Arial"/>
                <a:sym typeface="Arial"/>
              </a:rPr>
              <a:t>Moderate</a:t>
            </a:r>
            <a:endParaRPr b="0" i="0" sz="1200" u="none" cap="none" strike="noStrike">
              <a:solidFill>
                <a:schemeClr val="dk1"/>
              </a:solidFill>
              <a:latin typeface="Calibri"/>
              <a:ea typeface="Calibri"/>
              <a:cs typeface="Calibri"/>
              <a:sym typeface="Calibri"/>
            </a:endParaRPr>
          </a:p>
        </p:txBody>
      </p:sp>
      <p:sp>
        <p:nvSpPr>
          <p:cNvPr id="151" name="Google Shape;151;p7"/>
          <p:cNvSpPr/>
          <p:nvPr/>
        </p:nvSpPr>
        <p:spPr>
          <a:xfrm>
            <a:off x="6492240" y="3054096"/>
            <a:ext cx="822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0 cm</a:t>
            </a:r>
            <a:endParaRPr b="0" i="0" sz="1600" u="none" cap="none" strike="noStrike">
              <a:solidFill>
                <a:schemeClr val="dk1"/>
              </a:solidFill>
              <a:latin typeface="Calibri"/>
              <a:ea typeface="Calibri"/>
              <a:cs typeface="Calibri"/>
              <a:sym typeface="Calibri"/>
            </a:endParaRPr>
          </a:p>
        </p:txBody>
      </p:sp>
      <p:sp>
        <p:nvSpPr>
          <p:cNvPr id="152" name="Google Shape;152;p7"/>
          <p:cNvSpPr/>
          <p:nvPr/>
        </p:nvSpPr>
        <p:spPr>
          <a:xfrm>
            <a:off x="5010912" y="3364992"/>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rgbClr val="B7B7B7"/>
                </a:solidFill>
                <a:latin typeface="Calibri"/>
                <a:ea typeface="Calibri"/>
                <a:cs typeface="Calibri"/>
                <a:sym typeface="Calibri"/>
              </a:rPr>
              <a:t>Natural 120° elbow angle — optimal position</a:t>
            </a:r>
            <a:endParaRPr i="0" sz="1100" u="none" cap="none" strike="noStrike">
              <a:solidFill>
                <a:srgbClr val="B7B7B7"/>
              </a:solidFill>
              <a:latin typeface="Calibri"/>
              <a:ea typeface="Calibri"/>
              <a:cs typeface="Calibri"/>
              <a:sym typeface="Calibri"/>
            </a:endParaRPr>
          </a:p>
        </p:txBody>
      </p:sp>
      <p:sp>
        <p:nvSpPr>
          <p:cNvPr id="153" name="Google Shape;153;p7"/>
          <p:cNvSpPr/>
          <p:nvPr/>
        </p:nvSpPr>
        <p:spPr>
          <a:xfrm>
            <a:off x="4800600" y="3803904"/>
            <a:ext cx="411480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4800600" y="3803904"/>
            <a:ext cx="54864" cy="713232"/>
          </a:xfrm>
          <a:prstGeom prst="rect">
            <a:avLst/>
          </a:prstGeom>
          <a:solidFill>
            <a:srgbClr val="D4A017"/>
          </a:solidFill>
          <a:ln cap="flat" cmpd="sng" w="12700">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5010912" y="3895344"/>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017"/>
              </a:buClr>
              <a:buSzPts val="1200"/>
              <a:buFont typeface="Arial"/>
              <a:buNone/>
            </a:pPr>
            <a:r>
              <a:rPr b="1" i="0" lang="en-US" sz="1200" u="none" cap="none" strike="noStrike">
                <a:solidFill>
                  <a:srgbClr val="D4A017"/>
                </a:solidFill>
                <a:latin typeface="Arial"/>
                <a:ea typeface="Arial"/>
                <a:cs typeface="Arial"/>
                <a:sym typeface="Arial"/>
              </a:rPr>
              <a:t>Far</a:t>
            </a:r>
            <a:endParaRPr b="0" i="0" sz="1200" u="none" cap="none" strike="noStrike">
              <a:solidFill>
                <a:schemeClr val="dk1"/>
              </a:solidFill>
              <a:latin typeface="Calibri"/>
              <a:ea typeface="Calibri"/>
              <a:cs typeface="Calibri"/>
              <a:sym typeface="Calibri"/>
            </a:endParaRPr>
          </a:p>
        </p:txBody>
      </p:sp>
      <p:sp>
        <p:nvSpPr>
          <p:cNvPr id="156" name="Google Shape;156;p7"/>
          <p:cNvSpPr/>
          <p:nvPr/>
        </p:nvSpPr>
        <p:spPr>
          <a:xfrm>
            <a:off x="6492240" y="3895344"/>
            <a:ext cx="822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 cm</a:t>
            </a:r>
            <a:endParaRPr b="0" i="0" sz="1600" u="none" cap="none" strike="noStrike">
              <a:solidFill>
                <a:schemeClr val="dk1"/>
              </a:solidFill>
              <a:latin typeface="Calibri"/>
              <a:ea typeface="Calibri"/>
              <a:cs typeface="Calibri"/>
              <a:sym typeface="Calibri"/>
            </a:endParaRPr>
          </a:p>
        </p:txBody>
      </p:sp>
      <p:sp>
        <p:nvSpPr>
          <p:cNvPr id="157" name="Google Shape;157;p7"/>
          <p:cNvSpPr/>
          <p:nvPr/>
        </p:nvSpPr>
        <p:spPr>
          <a:xfrm>
            <a:off x="5010912" y="420624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rgbClr val="B7B7B7"/>
                </a:solidFill>
                <a:latin typeface="Calibri"/>
                <a:ea typeface="Calibri"/>
                <a:cs typeface="Calibri"/>
                <a:sym typeface="Calibri"/>
              </a:rPr>
              <a:t>Forward lean, upper limb fatigue</a:t>
            </a:r>
            <a:endParaRPr i="0" sz="1100" u="none" cap="none" strike="noStrike">
              <a:solidFill>
                <a:srgbClr val="B7B7B7"/>
              </a:solidFill>
              <a:latin typeface="Calibri"/>
              <a:ea typeface="Calibri"/>
              <a:cs typeface="Calibri"/>
              <a:sym typeface="Calibri"/>
            </a:endParaRPr>
          </a:p>
        </p:txBody>
      </p:sp>
      <p:sp>
        <p:nvSpPr>
          <p:cNvPr id="158" name="Google Shape;158;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163" name="Shape 163"/>
        <p:cNvGrpSpPr/>
        <p:nvPr/>
      </p:nvGrpSpPr>
      <p:grpSpPr>
        <a:xfrm>
          <a:off x="0" y="0"/>
          <a:ext cx="0" cy="0"/>
          <a:chOff x="0" y="0"/>
          <a:chExt cx="0" cy="0"/>
        </a:xfrm>
      </p:grpSpPr>
      <p:sp>
        <p:nvSpPr>
          <p:cNvPr id="164" name="Google Shape;164;p8"/>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METHODS</a:t>
            </a:r>
            <a:endParaRPr b="0" i="0" sz="900" u="none" cap="none" strike="noStrike">
              <a:solidFill>
                <a:schemeClr val="dk1"/>
              </a:solidFill>
              <a:latin typeface="Calibri"/>
              <a:ea typeface="Calibri"/>
              <a:cs typeface="Calibri"/>
              <a:sym typeface="Calibri"/>
            </a:endParaRPr>
          </a:p>
        </p:txBody>
      </p:sp>
      <p:sp>
        <p:nvSpPr>
          <p:cNvPr id="166" name="Google Shape;166;p8"/>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Dependent Variables &amp; Controls</a:t>
            </a:r>
            <a:endParaRPr b="0" i="0" sz="3400" u="none" cap="none" strike="noStrike">
              <a:solidFill>
                <a:schemeClr val="dk1"/>
              </a:solidFill>
              <a:latin typeface="Calibri"/>
              <a:ea typeface="Calibri"/>
              <a:cs typeface="Calibri"/>
              <a:sym typeface="Calibri"/>
            </a:endParaRPr>
          </a:p>
        </p:txBody>
      </p:sp>
      <p:sp>
        <p:nvSpPr>
          <p:cNvPr id="167" name="Google Shape;167;p8"/>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169" name="Google Shape;169;p8"/>
          <p:cNvSpPr/>
          <p:nvPr/>
        </p:nvSpPr>
        <p:spPr>
          <a:xfrm>
            <a:off x="411480" y="1463040"/>
            <a:ext cx="5029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300"/>
              <a:buFont typeface="Arial"/>
              <a:buNone/>
            </a:pPr>
            <a:r>
              <a:rPr b="1" i="0" lang="en-US" sz="1300" u="none" cap="none" strike="noStrike">
                <a:solidFill>
                  <a:srgbClr val="1A6EBD"/>
                </a:solidFill>
                <a:latin typeface="Arial"/>
                <a:ea typeface="Arial"/>
                <a:cs typeface="Arial"/>
                <a:sym typeface="Arial"/>
              </a:rPr>
              <a:t>What We Measured</a:t>
            </a:r>
            <a:endParaRPr b="0" i="0" sz="1300" u="none" cap="none" strike="noStrike">
              <a:solidFill>
                <a:schemeClr val="dk1"/>
              </a:solidFill>
              <a:latin typeface="Calibri"/>
              <a:ea typeface="Calibri"/>
              <a:cs typeface="Calibri"/>
              <a:sym typeface="Calibri"/>
            </a:endParaRPr>
          </a:p>
        </p:txBody>
      </p:sp>
      <p:sp>
        <p:nvSpPr>
          <p:cNvPr id="170" name="Google Shape;170;p8"/>
          <p:cNvSpPr/>
          <p:nvPr/>
        </p:nvSpPr>
        <p:spPr>
          <a:xfrm>
            <a:off x="411480" y="1965960"/>
            <a:ext cx="164592" cy="164592"/>
          </a:xfrm>
          <a:prstGeom prst="ellipse">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685800" y="1970533"/>
            <a:ext cx="17373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i="0" lang="en-US" sz="1100" u="none" cap="none" strike="noStrike">
                <a:solidFill>
                  <a:srgbClr val="E8600A"/>
                </a:solidFill>
                <a:latin typeface="Arial"/>
                <a:ea typeface="Arial"/>
                <a:cs typeface="Arial"/>
                <a:sym typeface="Arial"/>
              </a:rPr>
              <a:t>Race Time:</a:t>
            </a:r>
            <a:endParaRPr b="0" i="0" sz="1100" u="none" cap="none" strike="noStrike">
              <a:solidFill>
                <a:schemeClr val="dk1"/>
              </a:solidFill>
              <a:latin typeface="Calibri"/>
              <a:ea typeface="Calibri"/>
              <a:cs typeface="Calibri"/>
              <a:sym typeface="Calibri"/>
            </a:endParaRPr>
          </a:p>
        </p:txBody>
      </p:sp>
      <p:sp>
        <p:nvSpPr>
          <p:cNvPr id="172" name="Google Shape;172;p8"/>
          <p:cNvSpPr/>
          <p:nvPr/>
        </p:nvSpPr>
        <p:spPr>
          <a:xfrm>
            <a:off x="2468880" y="1874520"/>
            <a:ext cx="2560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i="0" lang="en-US" sz="1200" u="none" cap="none" strike="noStrike">
                <a:solidFill>
                  <a:schemeClr val="lt1"/>
                </a:solidFill>
                <a:latin typeface="Calibri"/>
                <a:ea typeface="Calibri"/>
                <a:cs typeface="Calibri"/>
                <a:sym typeface="Calibri"/>
              </a:rPr>
              <a:t>Seconds over 66 laps — primary performance measure</a:t>
            </a:r>
            <a:endParaRPr i="0" sz="1200" u="none" cap="none" strike="noStrike">
              <a:solidFill>
                <a:schemeClr val="lt1"/>
              </a:solidFill>
              <a:latin typeface="Calibri"/>
              <a:ea typeface="Calibri"/>
              <a:cs typeface="Calibri"/>
              <a:sym typeface="Calibri"/>
            </a:endParaRPr>
          </a:p>
        </p:txBody>
      </p:sp>
      <p:sp>
        <p:nvSpPr>
          <p:cNvPr id="173" name="Google Shape;173;p8"/>
          <p:cNvSpPr/>
          <p:nvPr/>
        </p:nvSpPr>
        <p:spPr>
          <a:xfrm>
            <a:off x="411480" y="2514600"/>
            <a:ext cx="164592" cy="164592"/>
          </a:xfrm>
          <a:prstGeom prst="ellipse">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653825" y="2537948"/>
            <a:ext cx="17373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i="0" lang="en-US" sz="1100" u="none" cap="none" strike="noStrike">
                <a:solidFill>
                  <a:srgbClr val="1A6EBD"/>
                </a:solidFill>
                <a:latin typeface="Arial"/>
                <a:ea typeface="Arial"/>
                <a:cs typeface="Arial"/>
                <a:sym typeface="Arial"/>
              </a:rPr>
              <a:t>Error Count:</a:t>
            </a:r>
            <a:endParaRPr b="0" i="0" sz="1100" u="none" cap="none" strike="noStrike">
              <a:solidFill>
                <a:schemeClr val="dk1"/>
              </a:solidFill>
              <a:latin typeface="Calibri"/>
              <a:ea typeface="Calibri"/>
              <a:cs typeface="Calibri"/>
              <a:sym typeface="Calibri"/>
            </a:endParaRPr>
          </a:p>
        </p:txBody>
      </p:sp>
      <p:sp>
        <p:nvSpPr>
          <p:cNvPr id="175" name="Google Shape;175;p8"/>
          <p:cNvSpPr/>
          <p:nvPr/>
        </p:nvSpPr>
        <p:spPr>
          <a:xfrm>
            <a:off x="2468880" y="2423160"/>
            <a:ext cx="2560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i="0" lang="en-US" sz="1200" u="none" cap="none" strike="noStrike">
                <a:solidFill>
                  <a:schemeClr val="lt1"/>
                </a:solidFill>
                <a:latin typeface="Calibri"/>
                <a:ea typeface="Calibri"/>
                <a:cs typeface="Calibri"/>
                <a:sym typeface="Calibri"/>
              </a:rPr>
              <a:t>Track limit violations — auto-logged by simulator</a:t>
            </a:r>
            <a:endParaRPr i="0" sz="1200" u="none" cap="none" strike="noStrike">
              <a:solidFill>
                <a:schemeClr val="lt1"/>
              </a:solidFill>
              <a:latin typeface="Calibri"/>
              <a:ea typeface="Calibri"/>
              <a:cs typeface="Calibri"/>
              <a:sym typeface="Calibri"/>
            </a:endParaRPr>
          </a:p>
        </p:txBody>
      </p:sp>
      <p:sp>
        <p:nvSpPr>
          <p:cNvPr id="176" name="Google Shape;176;p8"/>
          <p:cNvSpPr/>
          <p:nvPr/>
        </p:nvSpPr>
        <p:spPr>
          <a:xfrm>
            <a:off x="411480" y="3063240"/>
            <a:ext cx="164592" cy="164592"/>
          </a:xfrm>
          <a:prstGeom prst="ellipse">
            <a:avLst/>
          </a:prstGeom>
          <a:solidFill>
            <a:srgbClr val="F5832A"/>
          </a:solidFill>
          <a:ln cap="flat" cmpd="sng" w="12700">
            <a:solidFill>
              <a:srgbClr val="F58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653800" y="3063250"/>
            <a:ext cx="17373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832A"/>
              </a:buClr>
              <a:buSzPts val="1100"/>
              <a:buFont typeface="Arial"/>
              <a:buNone/>
            </a:pPr>
            <a:r>
              <a:rPr b="1" i="0" lang="en-US" sz="1100" u="none" cap="none" strike="noStrike">
                <a:solidFill>
                  <a:srgbClr val="F5832A"/>
                </a:solidFill>
                <a:latin typeface="Arial"/>
                <a:ea typeface="Arial"/>
                <a:cs typeface="Arial"/>
                <a:sym typeface="Arial"/>
              </a:rPr>
              <a:t>NASA-TLX:</a:t>
            </a:r>
            <a:endParaRPr b="0" i="0" sz="1100" u="none" cap="none" strike="noStrike">
              <a:solidFill>
                <a:schemeClr val="dk1"/>
              </a:solidFill>
              <a:latin typeface="Calibri"/>
              <a:ea typeface="Calibri"/>
              <a:cs typeface="Calibri"/>
              <a:sym typeface="Calibri"/>
            </a:endParaRPr>
          </a:p>
        </p:txBody>
      </p:sp>
      <p:sp>
        <p:nvSpPr>
          <p:cNvPr id="178" name="Google Shape;178;p8"/>
          <p:cNvSpPr/>
          <p:nvPr/>
        </p:nvSpPr>
        <p:spPr>
          <a:xfrm>
            <a:off x="2468880" y="2971800"/>
            <a:ext cx="2560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i="0" lang="en-US" sz="1200" u="none" cap="none" strike="noStrike">
                <a:solidFill>
                  <a:schemeClr val="lt1"/>
                </a:solidFill>
                <a:latin typeface="Calibri"/>
                <a:ea typeface="Calibri"/>
                <a:cs typeface="Calibri"/>
                <a:sym typeface="Calibri"/>
              </a:rPr>
              <a:t>Perceived workload, 6 subscales, post-race</a:t>
            </a:r>
            <a:endParaRPr i="0" sz="1200" u="none" cap="none" strike="noStrike">
              <a:solidFill>
                <a:schemeClr val="lt1"/>
              </a:solidFill>
              <a:latin typeface="Calibri"/>
              <a:ea typeface="Calibri"/>
              <a:cs typeface="Calibri"/>
              <a:sym typeface="Calibri"/>
            </a:endParaRPr>
          </a:p>
        </p:txBody>
      </p:sp>
      <p:sp>
        <p:nvSpPr>
          <p:cNvPr id="179" name="Google Shape;179;p8"/>
          <p:cNvSpPr/>
          <p:nvPr/>
        </p:nvSpPr>
        <p:spPr>
          <a:xfrm>
            <a:off x="411480" y="3611880"/>
            <a:ext cx="164592" cy="164592"/>
          </a:xfrm>
          <a:prstGeom prst="ellipse">
            <a:avLst/>
          </a:prstGeom>
          <a:solidFill>
            <a:srgbClr val="2E90D6"/>
          </a:solidFill>
          <a:ln cap="flat" cmpd="sng" w="12700">
            <a:solidFill>
              <a:srgbClr val="2E9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653800" y="3611865"/>
            <a:ext cx="17373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90D6"/>
              </a:buClr>
              <a:buSzPts val="1100"/>
              <a:buFont typeface="Arial"/>
              <a:buNone/>
            </a:pPr>
            <a:r>
              <a:rPr b="1" i="0" lang="en-US" sz="1100" u="none" cap="none" strike="noStrike">
                <a:solidFill>
                  <a:srgbClr val="2E90D6"/>
                </a:solidFill>
                <a:latin typeface="Arial"/>
                <a:ea typeface="Arial"/>
                <a:cs typeface="Arial"/>
                <a:sym typeface="Arial"/>
              </a:rPr>
              <a:t>Body Part Discomfort:</a:t>
            </a:r>
            <a:endParaRPr b="0" i="0" sz="1100" u="none" cap="none" strike="noStrike">
              <a:solidFill>
                <a:schemeClr val="dk1"/>
              </a:solidFill>
              <a:latin typeface="Calibri"/>
              <a:ea typeface="Calibri"/>
              <a:cs typeface="Calibri"/>
              <a:sym typeface="Calibri"/>
            </a:endParaRPr>
          </a:p>
        </p:txBody>
      </p:sp>
      <p:sp>
        <p:nvSpPr>
          <p:cNvPr id="181" name="Google Shape;181;p8"/>
          <p:cNvSpPr/>
          <p:nvPr/>
        </p:nvSpPr>
        <p:spPr>
          <a:xfrm>
            <a:off x="2468880" y="3520440"/>
            <a:ext cx="2560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i="0" lang="en-US" sz="1200" u="none" cap="none" strike="noStrike">
                <a:solidFill>
                  <a:schemeClr val="lt1"/>
                </a:solidFill>
                <a:latin typeface="Calibri"/>
                <a:ea typeface="Calibri"/>
                <a:cs typeface="Calibri"/>
                <a:sym typeface="Calibri"/>
              </a:rPr>
              <a:t>1–10 scale, 5 body regions, post-race</a:t>
            </a:r>
            <a:endParaRPr i="0" sz="1200" u="none" cap="none" strike="noStrike">
              <a:solidFill>
                <a:schemeClr val="lt1"/>
              </a:solidFill>
              <a:latin typeface="Calibri"/>
              <a:ea typeface="Calibri"/>
              <a:cs typeface="Calibri"/>
              <a:sym typeface="Calibri"/>
            </a:endParaRPr>
          </a:p>
          <a:p>
            <a:pPr indent="0" lvl="0" marL="0" marR="0" rtl="0" algn="l">
              <a:spcBef>
                <a:spcPts val="0"/>
              </a:spcBef>
              <a:spcAft>
                <a:spcPts val="0"/>
              </a:spcAft>
              <a:buClr>
                <a:srgbClr val="8A8A8A"/>
              </a:buClr>
              <a:buSzPts val="1100"/>
              <a:buFont typeface="Arial"/>
              <a:buNone/>
            </a:pPr>
            <a:r>
              <a:t/>
            </a:r>
            <a:endParaRPr sz="1200">
              <a:solidFill>
                <a:schemeClr val="lt1"/>
              </a:solidFill>
              <a:latin typeface="Calibri"/>
              <a:ea typeface="Calibri"/>
              <a:cs typeface="Calibri"/>
              <a:sym typeface="Calibri"/>
            </a:endParaRPr>
          </a:p>
          <a:p>
            <a:pPr indent="-304800" lvl="0" marL="457200" rtl="0" algn="l">
              <a:spcBef>
                <a:spcPts val="0"/>
              </a:spcBef>
              <a:spcAft>
                <a:spcPts val="0"/>
              </a:spcAft>
              <a:buClr>
                <a:schemeClr val="lt1"/>
              </a:buClr>
              <a:buSzPts val="1200"/>
              <a:buFont typeface="Calibri"/>
              <a:buAutoNum type="arabicPeriod"/>
            </a:pPr>
            <a:r>
              <a:rPr lang="en-US" sz="1200">
                <a:solidFill>
                  <a:schemeClr val="lt1"/>
                </a:solidFill>
                <a:latin typeface="Calibri"/>
                <a:ea typeface="Calibri"/>
                <a:cs typeface="Calibri"/>
                <a:sym typeface="Calibri"/>
              </a:rPr>
              <a:t>Lower back</a:t>
            </a:r>
            <a:endParaRPr sz="1200">
              <a:solidFill>
                <a:schemeClr val="lt1"/>
              </a:solidFill>
              <a:latin typeface="Calibri"/>
              <a:ea typeface="Calibri"/>
              <a:cs typeface="Calibri"/>
              <a:sym typeface="Calibri"/>
            </a:endParaRPr>
          </a:p>
          <a:p>
            <a:pPr indent="-304800" lvl="0" marL="457200" rtl="0" algn="l">
              <a:spcBef>
                <a:spcPts val="0"/>
              </a:spcBef>
              <a:spcAft>
                <a:spcPts val="0"/>
              </a:spcAft>
              <a:buClr>
                <a:schemeClr val="lt1"/>
              </a:buClr>
              <a:buSzPts val="1200"/>
              <a:buFont typeface="Calibri"/>
              <a:buAutoNum type="arabicPeriod"/>
            </a:pPr>
            <a:r>
              <a:rPr lang="en-US" sz="1200">
                <a:solidFill>
                  <a:schemeClr val="lt1"/>
                </a:solidFill>
                <a:latin typeface="Calibri"/>
                <a:ea typeface="Calibri"/>
                <a:cs typeface="Calibri"/>
                <a:sym typeface="Calibri"/>
              </a:rPr>
              <a:t>Hips and buttocks</a:t>
            </a:r>
            <a:endParaRPr sz="1200">
              <a:solidFill>
                <a:schemeClr val="lt1"/>
              </a:solidFill>
              <a:latin typeface="Calibri"/>
              <a:ea typeface="Calibri"/>
              <a:cs typeface="Calibri"/>
              <a:sym typeface="Calibri"/>
            </a:endParaRPr>
          </a:p>
          <a:p>
            <a:pPr indent="-304800" lvl="0" marL="457200" rtl="0" algn="l">
              <a:spcBef>
                <a:spcPts val="0"/>
              </a:spcBef>
              <a:spcAft>
                <a:spcPts val="0"/>
              </a:spcAft>
              <a:buClr>
                <a:schemeClr val="lt1"/>
              </a:buClr>
              <a:buSzPts val="1200"/>
              <a:buFont typeface="Calibri"/>
              <a:buAutoNum type="arabicPeriod"/>
            </a:pPr>
            <a:r>
              <a:rPr lang="en-US" sz="1200">
                <a:solidFill>
                  <a:schemeClr val="lt1"/>
                </a:solidFill>
                <a:latin typeface="Calibri"/>
                <a:ea typeface="Calibri"/>
                <a:cs typeface="Calibri"/>
                <a:sym typeface="Calibri"/>
              </a:rPr>
              <a:t>Shoulders</a:t>
            </a:r>
            <a:endParaRPr sz="1200">
              <a:solidFill>
                <a:schemeClr val="lt1"/>
              </a:solidFill>
              <a:latin typeface="Calibri"/>
              <a:ea typeface="Calibri"/>
              <a:cs typeface="Calibri"/>
              <a:sym typeface="Calibri"/>
            </a:endParaRPr>
          </a:p>
          <a:p>
            <a:pPr indent="-304800" lvl="0" marL="457200" rtl="0" algn="l">
              <a:spcBef>
                <a:spcPts val="0"/>
              </a:spcBef>
              <a:spcAft>
                <a:spcPts val="0"/>
              </a:spcAft>
              <a:buClr>
                <a:schemeClr val="lt1"/>
              </a:buClr>
              <a:buSzPts val="1200"/>
              <a:buFont typeface="Calibri"/>
              <a:buAutoNum type="arabicPeriod"/>
            </a:pPr>
            <a:r>
              <a:rPr lang="en-US" sz="1200">
                <a:solidFill>
                  <a:schemeClr val="lt1"/>
                </a:solidFill>
                <a:latin typeface="Calibri"/>
                <a:ea typeface="Calibri"/>
                <a:cs typeface="Calibri"/>
                <a:sym typeface="Calibri"/>
              </a:rPr>
              <a:t>Arms and wrists</a:t>
            </a:r>
            <a:endParaRPr sz="1200">
              <a:solidFill>
                <a:schemeClr val="lt1"/>
              </a:solidFill>
              <a:latin typeface="Calibri"/>
              <a:ea typeface="Calibri"/>
              <a:cs typeface="Calibri"/>
              <a:sym typeface="Calibri"/>
            </a:endParaRPr>
          </a:p>
          <a:p>
            <a:pPr indent="-304800" lvl="0" marL="457200" rtl="0" algn="l">
              <a:spcBef>
                <a:spcPts val="0"/>
              </a:spcBef>
              <a:spcAft>
                <a:spcPts val="0"/>
              </a:spcAft>
              <a:buClr>
                <a:schemeClr val="lt1"/>
              </a:buClr>
              <a:buSzPts val="1200"/>
              <a:buFont typeface="Calibri"/>
              <a:buAutoNum type="arabicPeriod"/>
            </a:pPr>
            <a:r>
              <a:rPr lang="en-US" sz="1200">
                <a:solidFill>
                  <a:schemeClr val="lt1"/>
                </a:solidFill>
                <a:latin typeface="Calibri"/>
                <a:ea typeface="Calibri"/>
                <a:cs typeface="Calibri"/>
                <a:sym typeface="Calibri"/>
              </a:rPr>
              <a:t>Neck</a:t>
            </a:r>
            <a:endParaRPr sz="1200">
              <a:solidFill>
                <a:schemeClr val="lt1"/>
              </a:solidFill>
              <a:latin typeface="Calibri"/>
              <a:ea typeface="Calibri"/>
              <a:cs typeface="Calibri"/>
              <a:sym typeface="Calibri"/>
            </a:endParaRPr>
          </a:p>
        </p:txBody>
      </p:sp>
      <p:cxnSp>
        <p:nvCxnSpPr>
          <p:cNvPr id="182" name="Google Shape;182;p8"/>
          <p:cNvCxnSpPr/>
          <p:nvPr/>
        </p:nvCxnSpPr>
        <p:spPr>
          <a:xfrm>
            <a:off x="5303520" y="1444752"/>
            <a:ext cx="0" cy="3337500"/>
          </a:xfrm>
          <a:prstGeom prst="straightConnector1">
            <a:avLst/>
          </a:prstGeom>
          <a:noFill/>
          <a:ln cap="flat" cmpd="sng" w="12700">
            <a:solidFill>
              <a:srgbClr val="252525"/>
            </a:solidFill>
            <a:prstDash val="solid"/>
            <a:round/>
            <a:headEnd len="sm" w="sm" type="none"/>
            <a:tailEnd len="sm" w="sm" type="none"/>
          </a:ln>
        </p:spPr>
      </p:cxnSp>
      <p:sp>
        <p:nvSpPr>
          <p:cNvPr id="183" name="Google Shape;183;p8"/>
          <p:cNvSpPr/>
          <p:nvPr/>
        </p:nvSpPr>
        <p:spPr>
          <a:xfrm>
            <a:off x="5391104" y="1463040"/>
            <a:ext cx="3383400" cy="32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100">
                <a:solidFill>
                  <a:srgbClr val="E8600A"/>
                </a:solidFill>
              </a:rPr>
              <a:t>To eliminate outside noise, we ran everything on an F1 24 simulator — same track, same car, same weather, every single time.</a:t>
            </a:r>
            <a:endParaRPr b="1" sz="1100">
              <a:solidFill>
                <a:srgbClr val="E8600A"/>
              </a:solidFill>
            </a:endParaRPr>
          </a:p>
          <a:p>
            <a:pPr indent="0" lvl="0" marL="0" marR="0" rtl="0" algn="l">
              <a:spcBef>
                <a:spcPts val="0"/>
              </a:spcBef>
              <a:spcAft>
                <a:spcPts val="0"/>
              </a:spcAft>
              <a:buClr>
                <a:srgbClr val="E8600A"/>
              </a:buClr>
              <a:buSzPts val="1300"/>
              <a:buFont typeface="Arial"/>
              <a:buNone/>
            </a:pPr>
            <a:r>
              <a:t/>
            </a:r>
            <a:endParaRPr b="1" sz="1100">
              <a:solidFill>
                <a:srgbClr val="E8600A"/>
              </a:solidFill>
            </a:endParaRPr>
          </a:p>
        </p:txBody>
      </p:sp>
      <p:sp>
        <p:nvSpPr>
          <p:cNvPr id="184" name="Google Shape;184;p8"/>
          <p:cNvSpPr/>
          <p:nvPr/>
        </p:nvSpPr>
        <p:spPr>
          <a:xfrm>
            <a:off x="5440680" y="2117332"/>
            <a:ext cx="1281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5669280" y="2048036"/>
            <a:ext cx="31548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b="0" i="0" lang="en-US" sz="1000" u="none" cap="none" strike="noStrike">
                <a:solidFill>
                  <a:schemeClr val="lt1"/>
                </a:solidFill>
                <a:latin typeface="Arial"/>
                <a:ea typeface="Arial"/>
                <a:cs typeface="Arial"/>
                <a:sym typeface="Arial"/>
              </a:rPr>
              <a:t>F1 2024 spec car — identical every session</a:t>
            </a:r>
            <a:endParaRPr b="0" i="0" sz="1000" u="none" cap="none" strike="noStrike">
              <a:solidFill>
                <a:schemeClr val="lt1"/>
              </a:solidFill>
              <a:latin typeface="Calibri"/>
              <a:ea typeface="Calibri"/>
              <a:cs typeface="Calibri"/>
              <a:sym typeface="Calibri"/>
            </a:endParaRPr>
          </a:p>
        </p:txBody>
      </p:sp>
      <p:sp>
        <p:nvSpPr>
          <p:cNvPr id="186" name="Google Shape;186;p8"/>
          <p:cNvSpPr/>
          <p:nvPr/>
        </p:nvSpPr>
        <p:spPr>
          <a:xfrm>
            <a:off x="5440680" y="2537956"/>
            <a:ext cx="1281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5669280" y="2468660"/>
            <a:ext cx="31548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b="0" i="0" lang="en-US" sz="1000" u="none" cap="none" strike="noStrike">
                <a:solidFill>
                  <a:schemeClr val="lt1"/>
                </a:solidFill>
                <a:latin typeface="Arial"/>
                <a:ea typeface="Arial"/>
                <a:cs typeface="Arial"/>
                <a:sym typeface="Arial"/>
              </a:rPr>
              <a:t>Medium tires, full fuel load</a:t>
            </a:r>
            <a:endParaRPr b="0" i="0" sz="1000" u="none" cap="none" strike="noStrike">
              <a:solidFill>
                <a:schemeClr val="lt1"/>
              </a:solidFill>
              <a:latin typeface="Calibri"/>
              <a:ea typeface="Calibri"/>
              <a:cs typeface="Calibri"/>
              <a:sym typeface="Calibri"/>
            </a:endParaRPr>
          </a:p>
        </p:txBody>
      </p:sp>
      <p:sp>
        <p:nvSpPr>
          <p:cNvPr id="188" name="Google Shape;188;p8"/>
          <p:cNvSpPr/>
          <p:nvPr/>
        </p:nvSpPr>
        <p:spPr>
          <a:xfrm>
            <a:off x="5440680" y="2958580"/>
            <a:ext cx="1281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5669280" y="2889284"/>
            <a:ext cx="31548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b="0" i="0" lang="en-US" sz="1000" u="none" cap="none" strike="noStrike">
                <a:solidFill>
                  <a:schemeClr val="lt1"/>
                </a:solidFill>
                <a:latin typeface="Arial"/>
                <a:ea typeface="Arial"/>
                <a:cs typeface="Arial"/>
                <a:sym typeface="Arial"/>
              </a:rPr>
              <a:t>Clear, dry, 22°C weather (fixed in software)</a:t>
            </a:r>
            <a:endParaRPr b="0" i="0" sz="1000" u="none" cap="none" strike="noStrike">
              <a:solidFill>
                <a:schemeClr val="lt1"/>
              </a:solidFill>
              <a:latin typeface="Calibri"/>
              <a:ea typeface="Calibri"/>
              <a:cs typeface="Calibri"/>
              <a:sym typeface="Calibri"/>
            </a:endParaRPr>
          </a:p>
        </p:txBody>
      </p:sp>
      <p:sp>
        <p:nvSpPr>
          <p:cNvPr id="190" name="Google Shape;190;p8"/>
          <p:cNvSpPr/>
          <p:nvPr/>
        </p:nvSpPr>
        <p:spPr>
          <a:xfrm>
            <a:off x="5440680" y="3379204"/>
            <a:ext cx="1281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5669280" y="3309908"/>
            <a:ext cx="31548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b="0" i="0" lang="en-US" sz="1000" u="none" cap="none" strike="noStrike">
                <a:solidFill>
                  <a:schemeClr val="lt1"/>
                </a:solidFill>
                <a:latin typeface="Arial"/>
                <a:ea typeface="Arial"/>
                <a:cs typeface="Arial"/>
                <a:sym typeface="Arial"/>
              </a:rPr>
              <a:t>Cockpit camera — fixed for all participants</a:t>
            </a:r>
            <a:endParaRPr b="0" i="0" sz="1000" u="none" cap="none" strike="noStrike">
              <a:solidFill>
                <a:schemeClr val="lt1"/>
              </a:solidFill>
              <a:latin typeface="Calibri"/>
              <a:ea typeface="Calibri"/>
              <a:cs typeface="Calibri"/>
              <a:sym typeface="Calibri"/>
            </a:endParaRPr>
          </a:p>
        </p:txBody>
      </p:sp>
      <p:sp>
        <p:nvSpPr>
          <p:cNvPr id="192" name="Google Shape;192;p8"/>
          <p:cNvSpPr/>
          <p:nvPr/>
        </p:nvSpPr>
        <p:spPr>
          <a:xfrm>
            <a:off x="5440680" y="3799828"/>
            <a:ext cx="1281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5669280" y="3730532"/>
            <a:ext cx="31548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b="0" i="0" lang="en-US" sz="1000" u="none" cap="none" strike="noStrike">
                <a:solidFill>
                  <a:schemeClr val="lt1"/>
                </a:solidFill>
                <a:latin typeface="Arial"/>
                <a:ea typeface="Arial"/>
                <a:cs typeface="Arial"/>
                <a:sym typeface="Arial"/>
              </a:rPr>
              <a:t>Time trial mode — no opponents</a:t>
            </a:r>
            <a:endParaRPr b="0" i="0" sz="1000" u="none" cap="none" strike="noStrike">
              <a:solidFill>
                <a:schemeClr val="lt1"/>
              </a:solidFill>
              <a:latin typeface="Calibri"/>
              <a:ea typeface="Calibri"/>
              <a:cs typeface="Calibri"/>
              <a:sym typeface="Calibri"/>
            </a:endParaRPr>
          </a:p>
        </p:txBody>
      </p:sp>
      <p:sp>
        <p:nvSpPr>
          <p:cNvPr id="194" name="Google Shape;194;p8"/>
          <p:cNvSpPr/>
          <p:nvPr/>
        </p:nvSpPr>
        <p:spPr>
          <a:xfrm>
            <a:off x="5440680" y="4220452"/>
            <a:ext cx="1281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5669280" y="4151156"/>
            <a:ext cx="31548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b="0" i="0" lang="en-US" sz="1000" u="none" cap="none" strike="noStrike">
                <a:solidFill>
                  <a:schemeClr val="lt1"/>
                </a:solidFill>
                <a:latin typeface="Arial"/>
                <a:ea typeface="Arial"/>
                <a:cs typeface="Arial"/>
                <a:sym typeface="Arial"/>
              </a:rPr>
              <a:t>Same track every session (Barcelona)</a:t>
            </a:r>
            <a:endParaRPr b="0" i="0" sz="1000" u="none" cap="none" strike="noStrike">
              <a:solidFill>
                <a:schemeClr val="lt1"/>
              </a:solidFill>
              <a:latin typeface="Calibri"/>
              <a:ea typeface="Calibri"/>
              <a:cs typeface="Calibri"/>
              <a:sym typeface="Calibri"/>
            </a:endParaRPr>
          </a:p>
        </p:txBody>
      </p:sp>
      <p:sp>
        <p:nvSpPr>
          <p:cNvPr id="196" name="Google Shape;196;p8"/>
          <p:cNvSpPr/>
          <p:nvPr/>
        </p:nvSpPr>
        <p:spPr>
          <a:xfrm>
            <a:off x="5440680" y="4641076"/>
            <a:ext cx="1281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5669280" y="4571780"/>
            <a:ext cx="31548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b="0" i="0" lang="en-US" sz="1000" u="none" cap="none" strike="noStrike">
                <a:solidFill>
                  <a:schemeClr val="lt1"/>
                </a:solidFill>
                <a:latin typeface="Arial"/>
                <a:ea typeface="Arial"/>
                <a:cs typeface="Arial"/>
                <a:sym typeface="Arial"/>
              </a:rPr>
              <a:t>Fixed steering sensitivity &amp; force feedback</a:t>
            </a:r>
            <a:endParaRPr b="0" i="0" sz="1000" u="none" cap="none" strike="noStrike">
              <a:solidFill>
                <a:schemeClr val="lt1"/>
              </a:solidFill>
              <a:latin typeface="Calibri"/>
              <a:ea typeface="Calibri"/>
              <a:cs typeface="Calibri"/>
              <a:sym typeface="Calibri"/>
            </a:endParaRPr>
          </a:p>
        </p:txBody>
      </p:sp>
      <p:sp>
        <p:nvSpPr>
          <p:cNvPr id="198" name="Google Shape;198;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203" name="Shape 203"/>
        <p:cNvGrpSpPr/>
        <p:nvPr/>
      </p:nvGrpSpPr>
      <p:grpSpPr>
        <a:xfrm>
          <a:off x="0" y="0"/>
          <a:ext cx="0" cy="0"/>
          <a:chOff x="0" y="0"/>
          <a:chExt cx="0" cy="0"/>
        </a:xfrm>
      </p:grpSpPr>
      <p:sp>
        <p:nvSpPr>
          <p:cNvPr id="204" name="Google Shape;204;p9"/>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557784" y="228600"/>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METHODS</a:t>
            </a:r>
            <a:endParaRPr b="0" i="0" sz="900" u="none" cap="none" strike="noStrike">
              <a:solidFill>
                <a:schemeClr val="dk1"/>
              </a:solidFill>
              <a:latin typeface="Calibri"/>
              <a:ea typeface="Calibri"/>
              <a:cs typeface="Calibri"/>
              <a:sym typeface="Calibri"/>
            </a:endParaRPr>
          </a:p>
        </p:txBody>
      </p:sp>
      <p:sp>
        <p:nvSpPr>
          <p:cNvPr id="206" name="Google Shape;206;p9"/>
          <p:cNvSpPr/>
          <p:nvPr/>
        </p:nvSpPr>
        <p:spPr>
          <a:xfrm>
            <a:off x="411480" y="566928"/>
            <a:ext cx="83210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Arial Black"/>
              <a:buNone/>
            </a:pPr>
            <a:r>
              <a:rPr b="1" i="0" lang="en-US" sz="3600" u="none" cap="none" strike="noStrike">
                <a:solidFill>
                  <a:srgbClr val="FFFFFF"/>
                </a:solidFill>
                <a:latin typeface="Arial Black"/>
                <a:ea typeface="Arial Black"/>
                <a:cs typeface="Arial Black"/>
                <a:sym typeface="Arial Black"/>
              </a:rPr>
              <a:t>Experimental Setup</a:t>
            </a:r>
            <a:endParaRPr b="0" i="0" sz="3600" u="none" cap="none" strike="noStrike">
              <a:solidFill>
                <a:schemeClr val="dk1"/>
              </a:solidFill>
              <a:latin typeface="Calibri"/>
              <a:ea typeface="Calibri"/>
              <a:cs typeface="Calibri"/>
              <a:sym typeface="Calibri"/>
            </a:endParaRPr>
          </a:p>
        </p:txBody>
      </p:sp>
      <p:sp>
        <p:nvSpPr>
          <p:cNvPr id="207" name="Google Shape;207;p9"/>
          <p:cNvSpPr/>
          <p:nvPr/>
        </p:nvSpPr>
        <p:spPr>
          <a:xfrm>
            <a:off x="411480" y="1261872"/>
            <a:ext cx="8321040" cy="36576"/>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411480" y="1417320"/>
            <a:ext cx="3931920" cy="2743200"/>
          </a:xfrm>
          <a:prstGeom prst="rect">
            <a:avLst/>
          </a:prstGeom>
          <a:solidFill>
            <a:srgbClr val="141414"/>
          </a:solidFill>
          <a:ln cap="flat" cmpd="sng" w="12700">
            <a:solidFill>
              <a:srgbClr val="1A6EBD"/>
            </a:solidFill>
            <a:prstDash val="solid"/>
            <a:round/>
            <a:headEnd len="sm" w="sm" type="none"/>
            <a:tailEnd len="sm" w="sm" type="none"/>
          </a:ln>
          <a:effectLst>
            <a:outerShdw blurRad="152400" rotWithShape="0" algn="bl" dir="8100000" dist="50800">
              <a:srgbClr val="000000">
                <a:alpha val="5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9" name="Google Shape;209;p9"/>
          <p:cNvPicPr preferRelativeResize="0"/>
          <p:nvPr/>
        </p:nvPicPr>
        <p:blipFill rotWithShape="1">
          <a:blip r:embed="rId3">
            <a:alphaModFix/>
          </a:blip>
          <a:srcRect b="6838" l="0" r="0" t="0"/>
          <a:stretch/>
        </p:blipFill>
        <p:spPr>
          <a:xfrm>
            <a:off x="411475" y="1417325"/>
            <a:ext cx="3931925" cy="2214925"/>
          </a:xfrm>
          <a:prstGeom prst="rect">
            <a:avLst/>
          </a:prstGeom>
          <a:noFill/>
          <a:ln>
            <a:noFill/>
          </a:ln>
        </p:spPr>
      </p:pic>
      <p:sp>
        <p:nvSpPr>
          <p:cNvPr id="210" name="Google Shape;210;p9"/>
          <p:cNvSpPr/>
          <p:nvPr/>
        </p:nvSpPr>
        <p:spPr>
          <a:xfrm>
            <a:off x="411480" y="3794760"/>
            <a:ext cx="3931920" cy="365760"/>
          </a:xfrm>
          <a:prstGeom prst="rect">
            <a:avLst/>
          </a:prstGeom>
          <a:solidFill>
            <a:srgbClr val="0A2540"/>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411480" y="3794760"/>
            <a:ext cx="54864" cy="36576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566928" y="38404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Circuit de Barcelona-Catalunya</a:t>
            </a:r>
            <a:endParaRPr b="0" i="0" sz="1100" u="none" cap="none" strike="noStrike">
              <a:solidFill>
                <a:schemeClr val="dk1"/>
              </a:solidFill>
              <a:latin typeface="Calibri"/>
              <a:ea typeface="Calibri"/>
              <a:cs typeface="Calibri"/>
              <a:sym typeface="Calibri"/>
            </a:endParaRPr>
          </a:p>
        </p:txBody>
      </p:sp>
      <p:sp>
        <p:nvSpPr>
          <p:cNvPr id="213" name="Google Shape;213;p9"/>
          <p:cNvSpPr/>
          <p:nvPr/>
        </p:nvSpPr>
        <p:spPr>
          <a:xfrm>
            <a:off x="4800600" y="1417320"/>
            <a:ext cx="3931920" cy="2743200"/>
          </a:xfrm>
          <a:prstGeom prst="rect">
            <a:avLst/>
          </a:prstGeom>
          <a:solidFill>
            <a:srgbClr val="141414"/>
          </a:solidFill>
          <a:ln cap="flat" cmpd="sng" w="12700">
            <a:solidFill>
              <a:srgbClr val="E8600A"/>
            </a:solidFill>
            <a:prstDash val="solid"/>
            <a:round/>
            <a:headEnd len="sm" w="sm" type="none"/>
            <a:tailEnd len="sm" w="sm" type="none"/>
          </a:ln>
          <a:effectLst>
            <a:outerShdw blurRad="152400" rotWithShape="0" algn="bl" dir="8100000" dist="50800">
              <a:srgbClr val="000000">
                <a:alpha val="5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4" name="Google Shape;214;p9"/>
          <p:cNvPicPr preferRelativeResize="0"/>
          <p:nvPr/>
        </p:nvPicPr>
        <p:blipFill rotWithShape="1">
          <a:blip r:embed="rId4">
            <a:alphaModFix/>
          </a:blip>
          <a:srcRect b="0" l="0" r="0" t="0"/>
          <a:stretch/>
        </p:blipFill>
        <p:spPr>
          <a:xfrm>
            <a:off x="4800600" y="1417320"/>
            <a:ext cx="3931920" cy="2377440"/>
          </a:xfrm>
          <a:prstGeom prst="rect">
            <a:avLst/>
          </a:prstGeom>
          <a:noFill/>
          <a:ln>
            <a:noFill/>
          </a:ln>
        </p:spPr>
      </p:pic>
      <p:sp>
        <p:nvSpPr>
          <p:cNvPr id="215" name="Google Shape;215;p9"/>
          <p:cNvSpPr/>
          <p:nvPr/>
        </p:nvSpPr>
        <p:spPr>
          <a:xfrm>
            <a:off x="4800600" y="3794760"/>
            <a:ext cx="3931920" cy="365760"/>
          </a:xfrm>
          <a:prstGeom prst="rect">
            <a:avLst/>
          </a:prstGeom>
          <a:solidFill>
            <a:srgbClr val="0A2540"/>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4800600" y="3794760"/>
            <a:ext cx="54864" cy="36576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4956048" y="38404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F1 24 Simulator — Cockpit View</a:t>
            </a:r>
            <a:endParaRPr b="0" i="0" sz="1100" u="none" cap="none" strike="noStrike">
              <a:solidFill>
                <a:schemeClr val="dk1"/>
              </a:solidFill>
              <a:latin typeface="Calibri"/>
              <a:ea typeface="Calibri"/>
              <a:cs typeface="Calibri"/>
              <a:sym typeface="Calibri"/>
            </a:endParaRPr>
          </a:p>
        </p:txBody>
      </p:sp>
      <p:sp>
        <p:nvSpPr>
          <p:cNvPr id="218" name="Google Shape;218;p9"/>
          <p:cNvSpPr/>
          <p:nvPr/>
        </p:nvSpPr>
        <p:spPr>
          <a:xfrm>
            <a:off x="411480" y="4315968"/>
            <a:ext cx="1920240" cy="658368"/>
          </a:xfrm>
          <a:prstGeom prst="rect">
            <a:avLst/>
          </a:prstGeom>
          <a:solidFill>
            <a:srgbClr val="1E1E1E"/>
          </a:solidFill>
          <a:ln cap="flat" cmpd="sng" w="12700">
            <a:solidFill>
              <a:srgbClr val="2525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411480" y="4315968"/>
            <a:ext cx="54864" cy="658368"/>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548640" y="4352544"/>
            <a:ext cx="1645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1400"/>
              <a:buFont typeface="Arial Black"/>
              <a:buNone/>
            </a:pPr>
            <a:r>
              <a:rPr b="1" i="0" lang="en-US" sz="1400" u="none" cap="none" strike="noStrike">
                <a:solidFill>
                  <a:srgbClr val="E8600A"/>
                </a:solidFill>
                <a:latin typeface="Arial Black"/>
                <a:ea typeface="Arial Black"/>
                <a:cs typeface="Arial Black"/>
                <a:sym typeface="Arial Black"/>
              </a:rPr>
              <a:t>4.675 km</a:t>
            </a:r>
            <a:endParaRPr b="0" i="0" sz="1400" u="none" cap="none" strike="noStrike">
              <a:solidFill>
                <a:schemeClr val="dk1"/>
              </a:solidFill>
              <a:latin typeface="Calibri"/>
              <a:ea typeface="Calibri"/>
              <a:cs typeface="Calibri"/>
              <a:sym typeface="Calibri"/>
            </a:endParaRPr>
          </a:p>
        </p:txBody>
      </p:sp>
      <p:sp>
        <p:nvSpPr>
          <p:cNvPr id="221" name="Google Shape;221;p9"/>
          <p:cNvSpPr/>
          <p:nvPr/>
        </p:nvSpPr>
        <p:spPr>
          <a:xfrm>
            <a:off x="548640" y="4626864"/>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Arial"/>
              <a:buNone/>
            </a:pPr>
            <a:r>
              <a:rPr b="0" i="0" lang="en-US" sz="900" u="none" cap="none" strike="noStrike">
                <a:solidFill>
                  <a:schemeClr val="lt1"/>
                </a:solidFill>
                <a:latin typeface="Arial"/>
                <a:ea typeface="Arial"/>
                <a:cs typeface="Arial"/>
                <a:sym typeface="Arial"/>
              </a:rPr>
              <a:t>Circuit length</a:t>
            </a:r>
            <a:endParaRPr b="0" i="0" sz="900" u="none" cap="none" strike="noStrike">
              <a:solidFill>
                <a:schemeClr val="lt1"/>
              </a:solidFill>
              <a:latin typeface="Calibri"/>
              <a:ea typeface="Calibri"/>
              <a:cs typeface="Calibri"/>
              <a:sym typeface="Calibri"/>
            </a:endParaRPr>
          </a:p>
        </p:txBody>
      </p:sp>
      <p:sp>
        <p:nvSpPr>
          <p:cNvPr id="222" name="Google Shape;222;p9"/>
          <p:cNvSpPr/>
          <p:nvPr/>
        </p:nvSpPr>
        <p:spPr>
          <a:xfrm>
            <a:off x="2532888" y="4315968"/>
            <a:ext cx="1920240" cy="658368"/>
          </a:xfrm>
          <a:prstGeom prst="rect">
            <a:avLst/>
          </a:prstGeom>
          <a:solidFill>
            <a:srgbClr val="1E1E1E"/>
          </a:solidFill>
          <a:ln cap="flat" cmpd="sng" w="12700">
            <a:solidFill>
              <a:srgbClr val="2525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2532888" y="4315968"/>
            <a:ext cx="54864" cy="658368"/>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2670048" y="4352544"/>
            <a:ext cx="1645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EBD"/>
              </a:buClr>
              <a:buSzPts val="1400"/>
              <a:buFont typeface="Arial Black"/>
              <a:buNone/>
            </a:pPr>
            <a:r>
              <a:rPr b="1" i="0" lang="en-US" sz="1400" u="none" cap="none" strike="noStrike">
                <a:solidFill>
                  <a:srgbClr val="1A6EBD"/>
                </a:solidFill>
                <a:latin typeface="Arial Black"/>
                <a:ea typeface="Arial Black"/>
                <a:cs typeface="Arial Black"/>
                <a:sym typeface="Arial Black"/>
              </a:rPr>
              <a:t>16 corners</a:t>
            </a:r>
            <a:endParaRPr b="0" i="0" sz="1400" u="none" cap="none" strike="noStrike">
              <a:solidFill>
                <a:schemeClr val="dk1"/>
              </a:solidFill>
              <a:latin typeface="Calibri"/>
              <a:ea typeface="Calibri"/>
              <a:cs typeface="Calibri"/>
              <a:sym typeface="Calibri"/>
            </a:endParaRPr>
          </a:p>
        </p:txBody>
      </p:sp>
      <p:sp>
        <p:nvSpPr>
          <p:cNvPr id="225" name="Google Shape;225;p9"/>
          <p:cNvSpPr/>
          <p:nvPr/>
        </p:nvSpPr>
        <p:spPr>
          <a:xfrm>
            <a:off x="2670048" y="4626864"/>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Arial"/>
              <a:buNone/>
            </a:pPr>
            <a:r>
              <a:rPr b="0" i="0" lang="en-US" sz="900" u="none" cap="none" strike="noStrike">
                <a:solidFill>
                  <a:schemeClr val="lt1"/>
                </a:solidFill>
                <a:latin typeface="Arial"/>
                <a:ea typeface="Arial"/>
                <a:cs typeface="Arial"/>
                <a:sym typeface="Arial"/>
              </a:rPr>
              <a:t>Technical layout</a:t>
            </a:r>
            <a:endParaRPr b="0" i="0" sz="900" u="none" cap="none" strike="noStrike">
              <a:solidFill>
                <a:schemeClr val="lt1"/>
              </a:solidFill>
              <a:latin typeface="Calibri"/>
              <a:ea typeface="Calibri"/>
              <a:cs typeface="Calibri"/>
              <a:sym typeface="Calibri"/>
            </a:endParaRPr>
          </a:p>
        </p:txBody>
      </p:sp>
      <p:sp>
        <p:nvSpPr>
          <p:cNvPr id="226" name="Google Shape;226;p9"/>
          <p:cNvSpPr/>
          <p:nvPr/>
        </p:nvSpPr>
        <p:spPr>
          <a:xfrm>
            <a:off x="4654296" y="4315968"/>
            <a:ext cx="1920240" cy="658368"/>
          </a:xfrm>
          <a:prstGeom prst="rect">
            <a:avLst/>
          </a:prstGeom>
          <a:solidFill>
            <a:srgbClr val="1E1E1E"/>
          </a:solidFill>
          <a:ln cap="flat" cmpd="sng" w="12700">
            <a:solidFill>
              <a:srgbClr val="2525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4654296" y="4315968"/>
            <a:ext cx="54864" cy="658368"/>
          </a:xfrm>
          <a:prstGeom prst="rect">
            <a:avLst/>
          </a:prstGeom>
          <a:solidFill>
            <a:srgbClr val="F5832A"/>
          </a:solidFill>
          <a:ln cap="flat" cmpd="sng" w="12700">
            <a:solidFill>
              <a:srgbClr val="F58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4791456" y="4352544"/>
            <a:ext cx="1645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32A"/>
              </a:buClr>
              <a:buSzPts val="1400"/>
              <a:buFont typeface="Arial Black"/>
              <a:buNone/>
            </a:pPr>
            <a:r>
              <a:rPr b="1" i="0" lang="en-US" sz="1400" u="none" cap="none" strike="noStrike">
                <a:solidFill>
                  <a:srgbClr val="F5832A"/>
                </a:solidFill>
                <a:latin typeface="Arial Black"/>
                <a:ea typeface="Arial Black"/>
                <a:cs typeface="Arial Black"/>
                <a:sym typeface="Arial Black"/>
              </a:rPr>
              <a:t>66 laps</a:t>
            </a:r>
            <a:endParaRPr b="0" i="0" sz="1400" u="none" cap="none" strike="noStrike">
              <a:solidFill>
                <a:schemeClr val="dk1"/>
              </a:solidFill>
              <a:latin typeface="Calibri"/>
              <a:ea typeface="Calibri"/>
              <a:cs typeface="Calibri"/>
              <a:sym typeface="Calibri"/>
            </a:endParaRPr>
          </a:p>
        </p:txBody>
      </p:sp>
      <p:sp>
        <p:nvSpPr>
          <p:cNvPr id="229" name="Google Shape;229;p9"/>
          <p:cNvSpPr/>
          <p:nvPr/>
        </p:nvSpPr>
        <p:spPr>
          <a:xfrm>
            <a:off x="4791456" y="4626864"/>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Arial"/>
              <a:buNone/>
            </a:pPr>
            <a:r>
              <a:rPr b="0" i="0" lang="en-US" sz="900" u="none" cap="none" strike="noStrike">
                <a:solidFill>
                  <a:schemeClr val="lt1"/>
                </a:solidFill>
                <a:latin typeface="Arial"/>
                <a:ea typeface="Arial"/>
                <a:cs typeface="Arial"/>
                <a:sym typeface="Arial"/>
              </a:rPr>
              <a:t>Per race session</a:t>
            </a:r>
            <a:endParaRPr b="0" i="0" sz="900" u="none" cap="none" strike="noStrike">
              <a:solidFill>
                <a:schemeClr val="lt1"/>
              </a:solidFill>
              <a:latin typeface="Calibri"/>
              <a:ea typeface="Calibri"/>
              <a:cs typeface="Calibri"/>
              <a:sym typeface="Calibri"/>
            </a:endParaRPr>
          </a:p>
        </p:txBody>
      </p:sp>
      <p:sp>
        <p:nvSpPr>
          <p:cNvPr id="230" name="Google Shape;230;p9"/>
          <p:cNvSpPr/>
          <p:nvPr/>
        </p:nvSpPr>
        <p:spPr>
          <a:xfrm>
            <a:off x="6775704" y="4315968"/>
            <a:ext cx="1920240" cy="658368"/>
          </a:xfrm>
          <a:prstGeom prst="rect">
            <a:avLst/>
          </a:prstGeom>
          <a:solidFill>
            <a:srgbClr val="1E1E1E"/>
          </a:solidFill>
          <a:ln cap="flat" cmpd="sng" w="12700">
            <a:solidFill>
              <a:srgbClr val="2525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6775704" y="4315968"/>
            <a:ext cx="54864" cy="658368"/>
          </a:xfrm>
          <a:prstGeom prst="rect">
            <a:avLst/>
          </a:prstGeom>
          <a:solidFill>
            <a:srgbClr val="2E90D6"/>
          </a:solidFill>
          <a:ln cap="flat" cmpd="sng" w="12700">
            <a:solidFill>
              <a:srgbClr val="2E9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6912864" y="4352544"/>
            <a:ext cx="1645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90D6"/>
              </a:buClr>
              <a:buSzPts val="1400"/>
              <a:buFont typeface="Arial Black"/>
              <a:buNone/>
            </a:pPr>
            <a:r>
              <a:rPr b="1" i="0" lang="en-US" sz="1400" u="none" cap="none" strike="noStrike">
                <a:solidFill>
                  <a:srgbClr val="2E90D6"/>
                </a:solidFill>
                <a:latin typeface="Arial Black"/>
                <a:ea typeface="Arial Black"/>
                <a:cs typeface="Arial Black"/>
                <a:sym typeface="Arial Black"/>
              </a:rPr>
              <a:t>Time Trial</a:t>
            </a:r>
            <a:endParaRPr b="0" i="0" sz="1400" u="none" cap="none" strike="noStrike">
              <a:solidFill>
                <a:schemeClr val="dk1"/>
              </a:solidFill>
              <a:latin typeface="Calibri"/>
              <a:ea typeface="Calibri"/>
              <a:cs typeface="Calibri"/>
              <a:sym typeface="Calibri"/>
            </a:endParaRPr>
          </a:p>
        </p:txBody>
      </p:sp>
      <p:sp>
        <p:nvSpPr>
          <p:cNvPr id="233" name="Google Shape;233;p9"/>
          <p:cNvSpPr/>
          <p:nvPr/>
        </p:nvSpPr>
        <p:spPr>
          <a:xfrm>
            <a:off x="6912864" y="4626864"/>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Arial"/>
              <a:buNone/>
            </a:pPr>
            <a:r>
              <a:rPr b="0" i="0" lang="en-US" sz="900" u="none" cap="none" strike="noStrike">
                <a:solidFill>
                  <a:schemeClr val="lt1"/>
                </a:solidFill>
                <a:latin typeface="Arial"/>
                <a:ea typeface="Arial"/>
                <a:cs typeface="Arial"/>
                <a:sym typeface="Arial"/>
              </a:rPr>
              <a:t>No opponents — full control</a:t>
            </a:r>
            <a:endParaRPr b="0" i="0" sz="900" u="none" cap="none" strike="noStrike">
              <a:solidFill>
                <a:schemeClr val="lt1"/>
              </a:solidFill>
              <a:latin typeface="Calibri"/>
              <a:ea typeface="Calibri"/>
              <a:cs typeface="Calibri"/>
              <a:sym typeface="Calibri"/>
            </a:endParaRPr>
          </a:p>
        </p:txBody>
      </p:sp>
      <p:sp>
        <p:nvSpPr>
          <p:cNvPr id="234" name="Google Shape;234;p9"/>
          <p:cNvSpPr/>
          <p:nvPr/>
        </p:nvSpPr>
        <p:spPr>
          <a:xfrm>
            <a:off x="0" y="4919472"/>
            <a:ext cx="91440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750"/>
              <a:buFont typeface="Arial"/>
              <a:buNone/>
            </a:pPr>
            <a:r>
              <a:rPr b="0" i="0" lang="en-US" sz="750" u="none" cap="none" strike="noStrike">
                <a:solidFill>
                  <a:srgbClr val="333333"/>
                </a:solidFill>
                <a:latin typeface="Arial"/>
                <a:ea typeface="Arial"/>
                <a:cs typeface="Arial"/>
                <a:sym typeface="Arial"/>
              </a:rPr>
              <a:t>EIN3241 — Human Factors &amp; Ergonomics  ·  University of Florida  ·  Spring 2026</a:t>
            </a:r>
            <a:endParaRPr b="0" i="0" sz="750" u="none" cap="none" strike="noStrike">
              <a:solidFill>
                <a:schemeClr val="dk1"/>
              </a:solidFill>
              <a:latin typeface="Calibri"/>
              <a:ea typeface="Calibri"/>
              <a:cs typeface="Calibri"/>
              <a:sym typeface="Calibri"/>
            </a:endParaRPr>
          </a:p>
        </p:txBody>
      </p:sp>
      <p:sp>
        <p:nvSpPr>
          <p:cNvPr id="235" name="Google Shape;235;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240" name="Shape 240"/>
        <p:cNvGrpSpPr/>
        <p:nvPr/>
      </p:nvGrpSpPr>
      <p:grpSpPr>
        <a:xfrm>
          <a:off x="0" y="0"/>
          <a:ext cx="0" cy="0"/>
          <a:chOff x="0" y="0"/>
          <a:chExt cx="0" cy="0"/>
        </a:xfrm>
      </p:grpSpPr>
      <p:sp>
        <p:nvSpPr>
          <p:cNvPr id="241" name="Google Shape;241;p10"/>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METHODS</a:t>
            </a:r>
            <a:endParaRPr b="0" i="0" sz="900" u="none" cap="none" strike="noStrike">
              <a:solidFill>
                <a:schemeClr val="dk1"/>
              </a:solidFill>
              <a:latin typeface="Calibri"/>
              <a:ea typeface="Calibri"/>
              <a:cs typeface="Calibri"/>
              <a:sym typeface="Calibri"/>
            </a:endParaRPr>
          </a:p>
        </p:txBody>
      </p:sp>
      <p:sp>
        <p:nvSpPr>
          <p:cNvPr id="243" name="Google Shape;243;p10"/>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Study Design &amp; Setup</a:t>
            </a:r>
            <a:endParaRPr b="0" i="0" sz="3400" u="none" cap="none" strike="noStrike">
              <a:solidFill>
                <a:schemeClr val="dk1"/>
              </a:solidFill>
              <a:latin typeface="Calibri"/>
              <a:ea typeface="Calibri"/>
              <a:cs typeface="Calibri"/>
              <a:sym typeface="Calibri"/>
            </a:endParaRPr>
          </a:p>
        </p:txBody>
      </p:sp>
      <p:sp>
        <p:nvSpPr>
          <p:cNvPr id="244" name="Google Shape;244;p10"/>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246" name="Google Shape;246;p10"/>
          <p:cNvSpPr/>
          <p:nvPr/>
        </p:nvSpPr>
        <p:spPr>
          <a:xfrm>
            <a:off x="411475" y="1463050"/>
            <a:ext cx="19428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961"/>
              <a:buFont typeface="Arial"/>
              <a:buNone/>
            </a:pPr>
            <a:r>
              <a:rPr b="1" i="0" lang="en-US" sz="961" u="none" cap="none" strike="noStrike">
                <a:solidFill>
                  <a:srgbClr val="1A6EBD"/>
                </a:solidFill>
                <a:latin typeface="Arial"/>
                <a:ea typeface="Arial"/>
                <a:cs typeface="Arial"/>
                <a:sym typeface="Arial"/>
              </a:rPr>
              <a:t>Design</a:t>
            </a:r>
            <a:endParaRPr b="0" i="0" sz="961" u="none" cap="none" strike="noStrike">
              <a:solidFill>
                <a:schemeClr val="dk1"/>
              </a:solidFill>
              <a:latin typeface="Calibri"/>
              <a:ea typeface="Calibri"/>
              <a:cs typeface="Calibri"/>
              <a:sym typeface="Calibri"/>
            </a:endParaRPr>
          </a:p>
        </p:txBody>
      </p:sp>
      <p:sp>
        <p:nvSpPr>
          <p:cNvPr id="247" name="Google Shape;247;p10"/>
          <p:cNvSpPr/>
          <p:nvPr/>
        </p:nvSpPr>
        <p:spPr>
          <a:xfrm>
            <a:off x="2400450" y="1463050"/>
            <a:ext cx="41064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13"/>
              <a:buFont typeface="Arial"/>
              <a:buNone/>
            </a:pPr>
            <a:r>
              <a:rPr lang="en-US" sz="1214">
                <a:solidFill>
                  <a:srgbClr val="E8E8E8"/>
                </a:solidFill>
                <a:latin typeface="Calibri"/>
                <a:ea typeface="Calibri"/>
                <a:cs typeface="Calibri"/>
                <a:sym typeface="Calibri"/>
              </a:rPr>
              <a:t>Mixed</a:t>
            </a:r>
            <a:r>
              <a:rPr i="0" lang="en-US" sz="1214" u="none" cap="none" strike="noStrike">
                <a:solidFill>
                  <a:srgbClr val="E8E8E8"/>
                </a:solidFill>
                <a:latin typeface="Calibri"/>
                <a:ea typeface="Calibri"/>
                <a:cs typeface="Calibri"/>
                <a:sym typeface="Calibri"/>
              </a:rPr>
              <a:t>-subjects 3×3 factorial — 9 conditions</a:t>
            </a:r>
            <a:endParaRPr i="0" sz="1214" u="none" cap="none" strike="noStrike">
              <a:solidFill>
                <a:srgbClr val="E8E8E8"/>
              </a:solidFill>
              <a:latin typeface="Calibri"/>
              <a:ea typeface="Calibri"/>
              <a:cs typeface="Calibri"/>
              <a:sym typeface="Calibri"/>
            </a:endParaRPr>
          </a:p>
          <a:p>
            <a:pPr indent="0" lvl="0" marL="0" marR="0" rtl="0" algn="l">
              <a:spcBef>
                <a:spcPts val="0"/>
              </a:spcBef>
              <a:spcAft>
                <a:spcPts val="0"/>
              </a:spcAft>
              <a:buClr>
                <a:srgbClr val="E8E8E8"/>
              </a:buClr>
              <a:buSzPts val="1113"/>
              <a:buFont typeface="Arial"/>
              <a:buNone/>
            </a:pPr>
            <a:r>
              <a:rPr lang="en-US" sz="1050">
                <a:solidFill>
                  <a:srgbClr val="E8E8E8"/>
                </a:solidFill>
                <a:latin typeface="Calibri"/>
                <a:ea typeface="Calibri"/>
                <a:cs typeface="Calibri"/>
                <a:sym typeface="Calibri"/>
              </a:rPr>
              <a:t>Each participant tested across 3 reach conditions, assigned to 1 seat level</a:t>
            </a:r>
            <a:endParaRPr sz="1050">
              <a:solidFill>
                <a:srgbClr val="E8E8E8"/>
              </a:solidFill>
              <a:latin typeface="Calibri"/>
              <a:ea typeface="Calibri"/>
              <a:cs typeface="Calibri"/>
              <a:sym typeface="Calibri"/>
            </a:endParaRPr>
          </a:p>
        </p:txBody>
      </p:sp>
      <p:cxnSp>
        <p:nvCxnSpPr>
          <p:cNvPr id="248" name="Google Shape;248;p10"/>
          <p:cNvCxnSpPr/>
          <p:nvPr/>
        </p:nvCxnSpPr>
        <p:spPr>
          <a:xfrm>
            <a:off x="411475" y="1942847"/>
            <a:ext cx="6013200" cy="0"/>
          </a:xfrm>
          <a:prstGeom prst="straightConnector1">
            <a:avLst/>
          </a:prstGeom>
          <a:noFill/>
          <a:ln cap="flat" cmpd="sng" w="9625">
            <a:solidFill>
              <a:srgbClr val="252525"/>
            </a:solidFill>
            <a:prstDash val="solid"/>
            <a:round/>
            <a:headEnd len="sm" w="sm" type="none"/>
            <a:tailEnd len="sm" w="sm" type="none"/>
          </a:ln>
        </p:spPr>
      </p:cxnSp>
      <p:sp>
        <p:nvSpPr>
          <p:cNvPr id="249" name="Google Shape;249;p10"/>
          <p:cNvSpPr/>
          <p:nvPr/>
        </p:nvSpPr>
        <p:spPr>
          <a:xfrm>
            <a:off x="411475" y="2011389"/>
            <a:ext cx="19428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961"/>
              <a:buFont typeface="Arial"/>
              <a:buNone/>
            </a:pPr>
            <a:r>
              <a:rPr b="1" i="0" lang="en-US" sz="961" u="none" cap="none" strike="noStrike">
                <a:solidFill>
                  <a:srgbClr val="1A6EBD"/>
                </a:solidFill>
                <a:latin typeface="Arial"/>
                <a:ea typeface="Arial"/>
                <a:cs typeface="Arial"/>
                <a:sym typeface="Arial"/>
              </a:rPr>
              <a:t>Participants</a:t>
            </a:r>
            <a:endParaRPr b="0" i="0" sz="961" u="none" cap="none" strike="noStrike">
              <a:solidFill>
                <a:schemeClr val="dk1"/>
              </a:solidFill>
              <a:latin typeface="Calibri"/>
              <a:ea typeface="Calibri"/>
              <a:cs typeface="Calibri"/>
              <a:sym typeface="Calibri"/>
            </a:endParaRPr>
          </a:p>
        </p:txBody>
      </p:sp>
      <p:sp>
        <p:nvSpPr>
          <p:cNvPr id="250" name="Google Shape;250;p10"/>
          <p:cNvSpPr/>
          <p:nvPr/>
        </p:nvSpPr>
        <p:spPr>
          <a:xfrm>
            <a:off x="2400448" y="2011389"/>
            <a:ext cx="37005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13"/>
              <a:buFont typeface="Arial"/>
              <a:buNone/>
            </a:pPr>
            <a:r>
              <a:rPr i="0" lang="en-US" sz="1214" u="none" cap="none" strike="noStrike">
                <a:solidFill>
                  <a:srgbClr val="E8E8E8"/>
                </a:solidFill>
                <a:latin typeface="Calibri"/>
                <a:ea typeface="Calibri"/>
                <a:cs typeface="Calibri"/>
                <a:sym typeface="Calibri"/>
              </a:rPr>
              <a:t>30 simulated males, ages 20–22 (UF student profile)</a:t>
            </a:r>
            <a:endParaRPr i="0" sz="1214" u="none" cap="none" strike="noStrike">
              <a:solidFill>
                <a:schemeClr val="dk1"/>
              </a:solidFill>
              <a:latin typeface="Calibri"/>
              <a:ea typeface="Calibri"/>
              <a:cs typeface="Calibri"/>
              <a:sym typeface="Calibri"/>
            </a:endParaRPr>
          </a:p>
        </p:txBody>
      </p:sp>
      <p:cxnSp>
        <p:nvCxnSpPr>
          <p:cNvPr id="251" name="Google Shape;251;p10"/>
          <p:cNvCxnSpPr/>
          <p:nvPr/>
        </p:nvCxnSpPr>
        <p:spPr>
          <a:xfrm>
            <a:off x="411475" y="2491185"/>
            <a:ext cx="6013200" cy="0"/>
          </a:xfrm>
          <a:prstGeom prst="straightConnector1">
            <a:avLst/>
          </a:prstGeom>
          <a:noFill/>
          <a:ln cap="flat" cmpd="sng" w="9625">
            <a:solidFill>
              <a:srgbClr val="252525"/>
            </a:solidFill>
            <a:prstDash val="solid"/>
            <a:round/>
            <a:headEnd len="sm" w="sm" type="none"/>
            <a:tailEnd len="sm" w="sm" type="none"/>
          </a:ln>
        </p:spPr>
      </p:cxnSp>
      <p:sp>
        <p:nvSpPr>
          <p:cNvPr id="252" name="Google Shape;252;p10"/>
          <p:cNvSpPr/>
          <p:nvPr/>
        </p:nvSpPr>
        <p:spPr>
          <a:xfrm>
            <a:off x="411475" y="2559728"/>
            <a:ext cx="19428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961"/>
              <a:buFont typeface="Arial"/>
              <a:buNone/>
            </a:pPr>
            <a:r>
              <a:rPr b="1" i="0" lang="en-US" sz="961" u="none" cap="none" strike="noStrike">
                <a:solidFill>
                  <a:srgbClr val="1A6EBD"/>
                </a:solidFill>
                <a:latin typeface="Arial"/>
                <a:ea typeface="Arial"/>
                <a:cs typeface="Arial"/>
                <a:sym typeface="Arial"/>
              </a:rPr>
              <a:t>Anthropometrics</a:t>
            </a:r>
            <a:endParaRPr b="0" i="0" sz="961" u="none" cap="none" strike="noStrike">
              <a:solidFill>
                <a:schemeClr val="dk1"/>
              </a:solidFill>
              <a:latin typeface="Calibri"/>
              <a:ea typeface="Calibri"/>
              <a:cs typeface="Calibri"/>
              <a:sym typeface="Calibri"/>
            </a:endParaRPr>
          </a:p>
        </p:txBody>
      </p:sp>
      <p:sp>
        <p:nvSpPr>
          <p:cNvPr id="253" name="Google Shape;253;p10"/>
          <p:cNvSpPr/>
          <p:nvPr/>
        </p:nvSpPr>
        <p:spPr>
          <a:xfrm>
            <a:off x="2400448" y="2559728"/>
            <a:ext cx="37005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13"/>
              <a:buFont typeface="Arial"/>
              <a:buNone/>
            </a:pPr>
            <a:r>
              <a:rPr i="0" lang="en-US" sz="1214" u="none" cap="none" strike="noStrike">
                <a:solidFill>
                  <a:srgbClr val="E8E8E8"/>
                </a:solidFill>
                <a:latin typeface="Calibri"/>
                <a:ea typeface="Calibri"/>
                <a:cs typeface="Calibri"/>
                <a:sym typeface="Calibri"/>
              </a:rPr>
              <a:t>40th–60th percentile, 173–180 cm, 70–84 kg</a:t>
            </a:r>
            <a:endParaRPr i="0" sz="1214" u="none" cap="none" strike="noStrike">
              <a:solidFill>
                <a:schemeClr val="dk1"/>
              </a:solidFill>
              <a:latin typeface="Calibri"/>
              <a:ea typeface="Calibri"/>
              <a:cs typeface="Calibri"/>
              <a:sym typeface="Calibri"/>
            </a:endParaRPr>
          </a:p>
        </p:txBody>
      </p:sp>
      <p:cxnSp>
        <p:nvCxnSpPr>
          <p:cNvPr id="254" name="Google Shape;254;p10"/>
          <p:cNvCxnSpPr/>
          <p:nvPr/>
        </p:nvCxnSpPr>
        <p:spPr>
          <a:xfrm>
            <a:off x="411475" y="3039524"/>
            <a:ext cx="6013200" cy="0"/>
          </a:xfrm>
          <a:prstGeom prst="straightConnector1">
            <a:avLst/>
          </a:prstGeom>
          <a:noFill/>
          <a:ln cap="flat" cmpd="sng" w="9625">
            <a:solidFill>
              <a:srgbClr val="252525"/>
            </a:solidFill>
            <a:prstDash val="solid"/>
            <a:round/>
            <a:headEnd len="sm" w="sm" type="none"/>
            <a:tailEnd len="sm" w="sm" type="none"/>
          </a:ln>
        </p:spPr>
      </p:cxnSp>
      <p:cxnSp>
        <p:nvCxnSpPr>
          <p:cNvPr id="255" name="Google Shape;255;p10"/>
          <p:cNvCxnSpPr/>
          <p:nvPr/>
        </p:nvCxnSpPr>
        <p:spPr>
          <a:xfrm>
            <a:off x="411475" y="3666137"/>
            <a:ext cx="6013200" cy="0"/>
          </a:xfrm>
          <a:prstGeom prst="straightConnector1">
            <a:avLst/>
          </a:prstGeom>
          <a:noFill/>
          <a:ln cap="flat" cmpd="sng" w="9625">
            <a:solidFill>
              <a:srgbClr val="252525"/>
            </a:solidFill>
            <a:prstDash val="solid"/>
            <a:round/>
            <a:headEnd len="sm" w="sm" type="none"/>
            <a:tailEnd len="sm" w="sm" type="none"/>
          </a:ln>
        </p:spPr>
      </p:cxnSp>
      <p:sp>
        <p:nvSpPr>
          <p:cNvPr id="256" name="Google Shape;256;p10"/>
          <p:cNvSpPr/>
          <p:nvPr/>
        </p:nvSpPr>
        <p:spPr>
          <a:xfrm>
            <a:off x="411475" y="3140913"/>
            <a:ext cx="19428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961"/>
              <a:buFont typeface="Arial"/>
              <a:buNone/>
            </a:pPr>
            <a:r>
              <a:rPr b="1" i="0" lang="en-US" sz="961" u="none" cap="none" strike="noStrike">
                <a:solidFill>
                  <a:srgbClr val="1A6EBD"/>
                </a:solidFill>
                <a:latin typeface="Arial"/>
                <a:ea typeface="Arial"/>
                <a:cs typeface="Arial"/>
                <a:sym typeface="Arial"/>
              </a:rPr>
              <a:t>Data Sources</a:t>
            </a:r>
            <a:endParaRPr b="0" i="0" sz="961" u="none" cap="none" strike="noStrike">
              <a:solidFill>
                <a:schemeClr val="dk1"/>
              </a:solidFill>
              <a:latin typeface="Calibri"/>
              <a:ea typeface="Calibri"/>
              <a:cs typeface="Calibri"/>
              <a:sym typeface="Calibri"/>
            </a:endParaRPr>
          </a:p>
        </p:txBody>
      </p:sp>
      <p:sp>
        <p:nvSpPr>
          <p:cNvPr id="257" name="Google Shape;257;p10"/>
          <p:cNvSpPr/>
          <p:nvPr/>
        </p:nvSpPr>
        <p:spPr>
          <a:xfrm>
            <a:off x="2400448" y="3140913"/>
            <a:ext cx="3700500" cy="43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13"/>
              <a:buFont typeface="Arial"/>
              <a:buNone/>
            </a:pPr>
            <a:r>
              <a:rPr i="0" lang="en-US" sz="1214" u="none" cap="none" strike="noStrike">
                <a:solidFill>
                  <a:srgbClr val="E8E8E8"/>
                </a:solidFill>
                <a:latin typeface="Calibri"/>
                <a:ea typeface="Calibri"/>
                <a:cs typeface="Calibri"/>
                <a:sym typeface="Calibri"/>
              </a:rPr>
              <a:t>AI simulation (Claude, Anthropic 2025) + survey (~67 UF students)</a:t>
            </a:r>
            <a:endParaRPr i="0" sz="1214" u="none" cap="none" strike="noStrike">
              <a:solidFill>
                <a:schemeClr val="dk1"/>
              </a:solidFill>
              <a:latin typeface="Calibri"/>
              <a:ea typeface="Calibri"/>
              <a:cs typeface="Calibri"/>
              <a:sym typeface="Calibri"/>
            </a:endParaRPr>
          </a:p>
        </p:txBody>
      </p:sp>
      <p:cxnSp>
        <p:nvCxnSpPr>
          <p:cNvPr id="258" name="Google Shape;258;p10"/>
          <p:cNvCxnSpPr/>
          <p:nvPr/>
        </p:nvCxnSpPr>
        <p:spPr>
          <a:xfrm>
            <a:off x="411475" y="4700025"/>
            <a:ext cx="6013200" cy="0"/>
          </a:xfrm>
          <a:prstGeom prst="straightConnector1">
            <a:avLst/>
          </a:prstGeom>
          <a:noFill/>
          <a:ln cap="flat" cmpd="sng" w="9625">
            <a:solidFill>
              <a:srgbClr val="252525"/>
            </a:solidFill>
            <a:prstDash val="solid"/>
            <a:round/>
            <a:headEnd len="sm" w="sm" type="none"/>
            <a:tailEnd len="sm" w="sm" type="none"/>
          </a:ln>
        </p:spPr>
      </p:cxnSp>
      <p:sp>
        <p:nvSpPr>
          <p:cNvPr id="259" name="Google Shape;259;p10"/>
          <p:cNvSpPr/>
          <p:nvPr/>
        </p:nvSpPr>
        <p:spPr>
          <a:xfrm>
            <a:off x="6583680" y="1463040"/>
            <a:ext cx="219456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6583680" y="1463040"/>
            <a:ext cx="54864" cy="713232"/>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6766560" y="1499616"/>
            <a:ext cx="73152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3000"/>
              <a:buFont typeface="Arial"/>
              <a:buNone/>
            </a:pPr>
            <a:r>
              <a:rPr b="1" i="0" lang="en-US" sz="3000" u="none" cap="none" strike="noStrike">
                <a:solidFill>
                  <a:srgbClr val="E8600A"/>
                </a:solidFill>
                <a:latin typeface="Arial"/>
                <a:ea typeface="Arial"/>
                <a:cs typeface="Arial"/>
                <a:sym typeface="Arial"/>
              </a:rPr>
              <a:t>9</a:t>
            </a:r>
            <a:endParaRPr b="0" i="0" sz="3000" u="none" cap="none" strike="noStrike">
              <a:solidFill>
                <a:schemeClr val="dk1"/>
              </a:solidFill>
              <a:latin typeface="Calibri"/>
              <a:ea typeface="Calibri"/>
              <a:cs typeface="Calibri"/>
              <a:sym typeface="Calibri"/>
            </a:endParaRPr>
          </a:p>
        </p:txBody>
      </p:sp>
      <p:sp>
        <p:nvSpPr>
          <p:cNvPr id="262" name="Google Shape;262;p10"/>
          <p:cNvSpPr/>
          <p:nvPr/>
        </p:nvSpPr>
        <p:spPr>
          <a:xfrm>
            <a:off x="7498080" y="1682496"/>
            <a:ext cx="1188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chemeClr val="lt1"/>
                </a:solidFill>
                <a:latin typeface="Calibri"/>
                <a:ea typeface="Calibri"/>
                <a:cs typeface="Calibri"/>
                <a:sym typeface="Calibri"/>
              </a:rPr>
              <a:t>conditions</a:t>
            </a:r>
            <a:endParaRPr i="0" sz="1100" u="none" cap="none" strike="noStrike">
              <a:solidFill>
                <a:schemeClr val="lt1"/>
              </a:solidFill>
              <a:latin typeface="Calibri"/>
              <a:ea typeface="Calibri"/>
              <a:cs typeface="Calibri"/>
              <a:sym typeface="Calibri"/>
            </a:endParaRPr>
          </a:p>
        </p:txBody>
      </p:sp>
      <p:sp>
        <p:nvSpPr>
          <p:cNvPr id="263" name="Google Shape;263;p10"/>
          <p:cNvSpPr/>
          <p:nvPr/>
        </p:nvSpPr>
        <p:spPr>
          <a:xfrm>
            <a:off x="6583680" y="2304288"/>
            <a:ext cx="219456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6583680" y="2304288"/>
            <a:ext cx="54864" cy="7132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6766560" y="2340864"/>
            <a:ext cx="73152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3000"/>
              <a:buFont typeface="Arial"/>
              <a:buNone/>
            </a:pPr>
            <a:r>
              <a:rPr b="1" i="0" lang="en-US" sz="3000" u="none" cap="none" strike="noStrike">
                <a:solidFill>
                  <a:srgbClr val="1A6EBD"/>
                </a:solidFill>
                <a:latin typeface="Arial"/>
                <a:ea typeface="Arial"/>
                <a:cs typeface="Arial"/>
                <a:sym typeface="Arial"/>
              </a:rPr>
              <a:t>90</a:t>
            </a:r>
            <a:endParaRPr b="0" i="0" sz="3000" u="none" cap="none" strike="noStrike">
              <a:solidFill>
                <a:schemeClr val="dk1"/>
              </a:solidFill>
              <a:latin typeface="Calibri"/>
              <a:ea typeface="Calibri"/>
              <a:cs typeface="Calibri"/>
              <a:sym typeface="Calibri"/>
            </a:endParaRPr>
          </a:p>
        </p:txBody>
      </p:sp>
      <p:sp>
        <p:nvSpPr>
          <p:cNvPr id="266" name="Google Shape;266;p10"/>
          <p:cNvSpPr/>
          <p:nvPr/>
        </p:nvSpPr>
        <p:spPr>
          <a:xfrm>
            <a:off x="7498080" y="2523744"/>
            <a:ext cx="1188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chemeClr val="lt1"/>
                </a:solidFill>
                <a:latin typeface="Calibri"/>
                <a:ea typeface="Calibri"/>
                <a:cs typeface="Calibri"/>
                <a:sym typeface="Calibri"/>
              </a:rPr>
              <a:t>total races</a:t>
            </a:r>
            <a:endParaRPr i="0" sz="1100" u="none" cap="none" strike="noStrike">
              <a:solidFill>
                <a:schemeClr val="lt1"/>
              </a:solidFill>
              <a:latin typeface="Calibri"/>
              <a:ea typeface="Calibri"/>
              <a:cs typeface="Calibri"/>
              <a:sym typeface="Calibri"/>
            </a:endParaRPr>
          </a:p>
        </p:txBody>
      </p:sp>
      <p:sp>
        <p:nvSpPr>
          <p:cNvPr id="267" name="Google Shape;267;p10"/>
          <p:cNvSpPr/>
          <p:nvPr/>
        </p:nvSpPr>
        <p:spPr>
          <a:xfrm>
            <a:off x="6583680" y="3145536"/>
            <a:ext cx="219456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6583680" y="3145536"/>
            <a:ext cx="54864" cy="713232"/>
          </a:xfrm>
          <a:prstGeom prst="rect">
            <a:avLst/>
          </a:prstGeom>
          <a:solidFill>
            <a:srgbClr val="2E90D6"/>
          </a:solidFill>
          <a:ln cap="flat" cmpd="sng" w="12700">
            <a:solidFill>
              <a:srgbClr val="2E9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6766560" y="3182112"/>
            <a:ext cx="73152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90D6"/>
              </a:buClr>
              <a:buSzPts val="3000"/>
              <a:buFont typeface="Arial"/>
              <a:buNone/>
            </a:pPr>
            <a:r>
              <a:rPr b="1" i="0" lang="en-US" sz="3000" u="none" cap="none" strike="noStrike">
                <a:solidFill>
                  <a:srgbClr val="2E90D6"/>
                </a:solidFill>
                <a:latin typeface="Arial"/>
                <a:ea typeface="Arial"/>
                <a:cs typeface="Arial"/>
                <a:sym typeface="Arial"/>
              </a:rPr>
              <a:t>30</a:t>
            </a:r>
            <a:endParaRPr b="0" i="0" sz="3000" u="none" cap="none" strike="noStrike">
              <a:solidFill>
                <a:schemeClr val="dk1"/>
              </a:solidFill>
              <a:latin typeface="Calibri"/>
              <a:ea typeface="Calibri"/>
              <a:cs typeface="Calibri"/>
              <a:sym typeface="Calibri"/>
            </a:endParaRPr>
          </a:p>
        </p:txBody>
      </p:sp>
      <p:sp>
        <p:nvSpPr>
          <p:cNvPr id="270" name="Google Shape;270;p10"/>
          <p:cNvSpPr/>
          <p:nvPr/>
        </p:nvSpPr>
        <p:spPr>
          <a:xfrm>
            <a:off x="7498080" y="3364992"/>
            <a:ext cx="1188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chemeClr val="lt1"/>
                </a:solidFill>
                <a:latin typeface="Calibri"/>
                <a:ea typeface="Calibri"/>
                <a:cs typeface="Calibri"/>
                <a:sym typeface="Calibri"/>
              </a:rPr>
              <a:t>participants</a:t>
            </a:r>
            <a:endParaRPr i="0" sz="1100" u="none" cap="none" strike="noStrike">
              <a:solidFill>
                <a:schemeClr val="lt1"/>
              </a:solidFill>
              <a:latin typeface="Calibri"/>
              <a:ea typeface="Calibri"/>
              <a:cs typeface="Calibri"/>
              <a:sym typeface="Calibri"/>
            </a:endParaRPr>
          </a:p>
        </p:txBody>
      </p:sp>
      <p:sp>
        <p:nvSpPr>
          <p:cNvPr id="271" name="Google Shape;271;p10"/>
          <p:cNvSpPr/>
          <p:nvPr/>
        </p:nvSpPr>
        <p:spPr>
          <a:xfrm>
            <a:off x="6583680" y="3986784"/>
            <a:ext cx="2194560" cy="713232"/>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6583680" y="3986784"/>
            <a:ext cx="54864" cy="713232"/>
          </a:xfrm>
          <a:prstGeom prst="rect">
            <a:avLst/>
          </a:prstGeom>
          <a:solidFill>
            <a:srgbClr val="F5832A"/>
          </a:solidFill>
          <a:ln cap="flat" cmpd="sng" w="12700">
            <a:solidFill>
              <a:srgbClr val="F58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6766560" y="4023360"/>
            <a:ext cx="73152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832A"/>
              </a:buClr>
              <a:buSzPts val="3000"/>
              <a:buFont typeface="Arial"/>
              <a:buNone/>
            </a:pPr>
            <a:r>
              <a:rPr b="1" i="0" lang="en-US" sz="3000" u="none" cap="none" strike="noStrike">
                <a:solidFill>
                  <a:srgbClr val="F5832A"/>
                </a:solidFill>
                <a:latin typeface="Arial"/>
                <a:ea typeface="Arial"/>
                <a:cs typeface="Arial"/>
                <a:sym typeface="Arial"/>
              </a:rPr>
              <a:t>10</a:t>
            </a:r>
            <a:endParaRPr b="0" i="0" sz="3000" u="none" cap="none" strike="noStrike">
              <a:solidFill>
                <a:schemeClr val="dk1"/>
              </a:solidFill>
              <a:latin typeface="Calibri"/>
              <a:ea typeface="Calibri"/>
              <a:cs typeface="Calibri"/>
              <a:sym typeface="Calibri"/>
            </a:endParaRPr>
          </a:p>
        </p:txBody>
      </p:sp>
      <p:sp>
        <p:nvSpPr>
          <p:cNvPr id="274" name="Google Shape;274;p10"/>
          <p:cNvSpPr/>
          <p:nvPr/>
        </p:nvSpPr>
        <p:spPr>
          <a:xfrm>
            <a:off x="7498080" y="4206240"/>
            <a:ext cx="1188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000"/>
              <a:buFont typeface="Arial"/>
              <a:buNone/>
            </a:pPr>
            <a:r>
              <a:rPr i="0" lang="en-US" sz="1100" u="none" cap="none" strike="noStrike">
                <a:solidFill>
                  <a:schemeClr val="lt1"/>
                </a:solidFill>
                <a:latin typeface="Calibri"/>
                <a:ea typeface="Calibri"/>
                <a:cs typeface="Calibri"/>
                <a:sym typeface="Calibri"/>
              </a:rPr>
              <a:t>obs per condition</a:t>
            </a:r>
            <a:endParaRPr i="0" sz="1100" u="none" cap="none" strike="noStrike">
              <a:solidFill>
                <a:schemeClr val="lt1"/>
              </a:solidFill>
              <a:latin typeface="Calibri"/>
              <a:ea typeface="Calibri"/>
              <a:cs typeface="Calibri"/>
              <a:sym typeface="Calibri"/>
            </a:endParaRPr>
          </a:p>
        </p:txBody>
      </p:sp>
      <p:pic>
        <p:nvPicPr>
          <p:cNvPr id="275" name="Google Shape;275;p10"/>
          <p:cNvPicPr preferRelativeResize="0"/>
          <p:nvPr/>
        </p:nvPicPr>
        <p:blipFill>
          <a:blip r:embed="rId3">
            <a:alphaModFix/>
          </a:blip>
          <a:stretch>
            <a:fillRect/>
          </a:stretch>
        </p:blipFill>
        <p:spPr>
          <a:xfrm>
            <a:off x="1334175" y="3815352"/>
            <a:ext cx="1818349" cy="909175"/>
          </a:xfrm>
          <a:prstGeom prst="rect">
            <a:avLst/>
          </a:prstGeom>
          <a:noFill/>
          <a:ln>
            <a:noFill/>
          </a:ln>
        </p:spPr>
      </p:pic>
      <p:pic>
        <p:nvPicPr>
          <p:cNvPr id="276" name="Google Shape;276;p10"/>
          <p:cNvPicPr preferRelativeResize="0"/>
          <p:nvPr/>
        </p:nvPicPr>
        <p:blipFill>
          <a:blip r:embed="rId4">
            <a:alphaModFix/>
          </a:blip>
          <a:stretch>
            <a:fillRect/>
          </a:stretch>
        </p:blipFill>
        <p:spPr>
          <a:xfrm>
            <a:off x="4161202" y="3587876"/>
            <a:ext cx="1307249" cy="1307226"/>
          </a:xfrm>
          <a:prstGeom prst="rect">
            <a:avLst/>
          </a:prstGeom>
          <a:noFill/>
          <a:ln>
            <a:noFill/>
          </a:ln>
        </p:spPr>
      </p:pic>
      <p:sp>
        <p:nvSpPr>
          <p:cNvPr id="277" name="Google Shape;277;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282" name="Shape 282"/>
        <p:cNvGrpSpPr/>
        <p:nvPr/>
      </p:nvGrpSpPr>
      <p:grpSpPr>
        <a:xfrm>
          <a:off x="0" y="0"/>
          <a:ext cx="0" cy="0"/>
          <a:chOff x="0" y="0"/>
          <a:chExt cx="0" cy="0"/>
        </a:xfrm>
      </p:grpSpPr>
      <p:sp>
        <p:nvSpPr>
          <p:cNvPr id="283" name="Google Shape;283;p11"/>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METHODS</a:t>
            </a:r>
            <a:endParaRPr b="0" i="0" sz="900" u="none" cap="none" strike="noStrike">
              <a:solidFill>
                <a:schemeClr val="dk1"/>
              </a:solidFill>
              <a:latin typeface="Calibri"/>
              <a:ea typeface="Calibri"/>
              <a:cs typeface="Calibri"/>
              <a:sym typeface="Calibri"/>
            </a:endParaRPr>
          </a:p>
        </p:txBody>
      </p:sp>
      <p:sp>
        <p:nvSpPr>
          <p:cNvPr id="285" name="Google Shape;285;p11"/>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Procedure</a:t>
            </a:r>
            <a:endParaRPr b="0" i="0" sz="3400" u="none" cap="none" strike="noStrike">
              <a:solidFill>
                <a:schemeClr val="dk1"/>
              </a:solidFill>
              <a:latin typeface="Calibri"/>
              <a:ea typeface="Calibri"/>
              <a:cs typeface="Calibri"/>
              <a:sym typeface="Calibri"/>
            </a:endParaRPr>
          </a:p>
        </p:txBody>
      </p:sp>
      <p:sp>
        <p:nvSpPr>
          <p:cNvPr id="286" name="Google Shape;286;p11"/>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288" name="Google Shape;288;p11"/>
          <p:cNvSpPr/>
          <p:nvPr/>
        </p:nvSpPr>
        <p:spPr>
          <a:xfrm>
            <a:off x="274320" y="1444752"/>
            <a:ext cx="1627632" cy="25146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274320" y="1444752"/>
            <a:ext cx="1627632" cy="64008"/>
          </a:xfrm>
          <a:prstGeom prst="rect">
            <a:avLst/>
          </a:prstGeom>
          <a:solidFill>
            <a:srgbClr val="8A8A8A"/>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384048" y="1572768"/>
            <a:ext cx="1417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b="1" i="0" lang="en-US" sz="1200" u="none" cap="none" strike="noStrike">
                <a:solidFill>
                  <a:schemeClr val="lt1"/>
                </a:solidFill>
                <a:latin typeface="Arial"/>
                <a:ea typeface="Arial"/>
                <a:cs typeface="Arial"/>
                <a:sym typeface="Arial"/>
              </a:rPr>
              <a:t>Pre-Study</a:t>
            </a:r>
            <a:endParaRPr b="0" i="0" sz="1200" u="none" cap="none" strike="noStrike">
              <a:solidFill>
                <a:schemeClr val="lt1"/>
              </a:solidFill>
              <a:latin typeface="Calibri"/>
              <a:ea typeface="Calibri"/>
              <a:cs typeface="Calibri"/>
              <a:sym typeface="Calibri"/>
            </a:endParaRPr>
          </a:p>
        </p:txBody>
      </p:sp>
      <p:sp>
        <p:nvSpPr>
          <p:cNvPr id="291" name="Google Shape;291;p11"/>
          <p:cNvSpPr/>
          <p:nvPr/>
        </p:nvSpPr>
        <p:spPr>
          <a:xfrm>
            <a:off x="384048" y="1938528"/>
            <a:ext cx="1417320" cy="164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Screening</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Questionnaire</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Hip breadth measured</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Arm reach measured</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Condition assigned</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rgbClr val="8A8A8A"/>
              </a:solidFill>
            </a:endParaRPr>
          </a:p>
          <a:p>
            <a:pPr indent="0" lvl="0" marL="0" marR="0" rtl="0" algn="l">
              <a:spcBef>
                <a:spcPts val="0"/>
              </a:spcBef>
              <a:spcAft>
                <a:spcPts val="0"/>
              </a:spcAft>
              <a:buClr>
                <a:srgbClr val="8A8A8A"/>
              </a:buClr>
              <a:buSzPts val="1000"/>
              <a:buFont typeface="Arial"/>
              <a:buNone/>
            </a:pPr>
            <a:r>
              <a:t/>
            </a:r>
            <a:endParaRPr sz="1000">
              <a:solidFill>
                <a:srgbClr val="8A8A8A"/>
              </a:solidFill>
            </a:endParaRPr>
          </a:p>
        </p:txBody>
      </p:sp>
      <p:cxnSp>
        <p:nvCxnSpPr>
          <p:cNvPr id="292" name="Google Shape;292;p11"/>
          <p:cNvCxnSpPr/>
          <p:nvPr/>
        </p:nvCxnSpPr>
        <p:spPr>
          <a:xfrm>
            <a:off x="1929384" y="2724912"/>
            <a:ext cx="82296" cy="0"/>
          </a:xfrm>
          <a:prstGeom prst="straightConnector1">
            <a:avLst/>
          </a:prstGeom>
          <a:noFill/>
          <a:ln cap="flat" cmpd="sng" w="12700">
            <a:solidFill>
              <a:srgbClr val="333333"/>
            </a:solidFill>
            <a:prstDash val="solid"/>
            <a:round/>
            <a:headEnd len="sm" w="sm" type="none"/>
            <a:tailEnd len="sm" w="sm" type="none"/>
          </a:ln>
        </p:spPr>
      </p:cxnSp>
      <p:sp>
        <p:nvSpPr>
          <p:cNvPr id="293" name="Google Shape;293;p11"/>
          <p:cNvSpPr/>
          <p:nvPr/>
        </p:nvSpPr>
        <p:spPr>
          <a:xfrm>
            <a:off x="2011680" y="1444752"/>
            <a:ext cx="1627632" cy="25146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2011680" y="1444752"/>
            <a:ext cx="1627632" cy="64008"/>
          </a:xfrm>
          <a:prstGeom prst="rect">
            <a:avLst/>
          </a:prstGeom>
          <a:solidFill>
            <a:srgbClr val="8A8A8A"/>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2121408" y="1572768"/>
            <a:ext cx="1417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b="1" i="0" lang="en-US" sz="1200" u="none" cap="none" strike="noStrike">
                <a:solidFill>
                  <a:schemeClr val="lt1"/>
                </a:solidFill>
                <a:latin typeface="Calibri"/>
                <a:ea typeface="Calibri"/>
                <a:cs typeface="Calibri"/>
                <a:sym typeface="Calibri"/>
              </a:rPr>
              <a:t>Week </a:t>
            </a:r>
            <a:r>
              <a:rPr b="1" lang="en-US" sz="1200">
                <a:solidFill>
                  <a:schemeClr val="lt1"/>
                </a:solidFill>
                <a:latin typeface="Calibri"/>
                <a:ea typeface="Calibri"/>
                <a:cs typeface="Calibri"/>
                <a:sym typeface="Calibri"/>
              </a:rPr>
              <a:t>1</a:t>
            </a:r>
            <a:endParaRPr i="0" sz="1200" u="none" cap="none" strike="noStrike">
              <a:solidFill>
                <a:schemeClr val="lt1"/>
              </a:solidFill>
              <a:latin typeface="Calibri"/>
              <a:ea typeface="Calibri"/>
              <a:cs typeface="Calibri"/>
              <a:sym typeface="Calibri"/>
            </a:endParaRPr>
          </a:p>
        </p:txBody>
      </p:sp>
      <p:sp>
        <p:nvSpPr>
          <p:cNvPr id="296" name="Google Shape;296;p11"/>
          <p:cNvSpPr/>
          <p:nvPr/>
        </p:nvSpPr>
        <p:spPr>
          <a:xfrm>
            <a:off x="2121408" y="1938528"/>
            <a:ext cx="1417320" cy="164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2-hr race on Barcelona</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No data collected</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Eliminates track learning effect</a:t>
            </a:r>
            <a:endParaRPr sz="1200">
              <a:solidFill>
                <a:schemeClr val="lt1"/>
              </a:solidFill>
              <a:latin typeface="Calibri"/>
              <a:ea typeface="Calibri"/>
              <a:cs typeface="Calibri"/>
              <a:sym typeface="Calibri"/>
            </a:endParaRPr>
          </a:p>
          <a:p>
            <a:pPr indent="0" lvl="0" marL="0" marR="0" rtl="0" algn="l">
              <a:spcBef>
                <a:spcPts val="0"/>
              </a:spcBef>
              <a:spcAft>
                <a:spcPts val="0"/>
              </a:spcAft>
              <a:buClr>
                <a:srgbClr val="8A8A8A"/>
              </a:buClr>
              <a:buSzPts val="1000"/>
              <a:buFont typeface="Arial"/>
              <a:buNone/>
            </a:pPr>
            <a:r>
              <a:t/>
            </a:r>
            <a:endParaRPr sz="1000">
              <a:solidFill>
                <a:srgbClr val="8A8A8A"/>
              </a:solidFill>
            </a:endParaRPr>
          </a:p>
        </p:txBody>
      </p:sp>
      <p:cxnSp>
        <p:nvCxnSpPr>
          <p:cNvPr id="297" name="Google Shape;297;p11"/>
          <p:cNvCxnSpPr/>
          <p:nvPr/>
        </p:nvCxnSpPr>
        <p:spPr>
          <a:xfrm>
            <a:off x="3666744" y="2724912"/>
            <a:ext cx="82296" cy="0"/>
          </a:xfrm>
          <a:prstGeom prst="straightConnector1">
            <a:avLst/>
          </a:prstGeom>
          <a:noFill/>
          <a:ln cap="flat" cmpd="sng" w="12700">
            <a:solidFill>
              <a:srgbClr val="333333"/>
            </a:solidFill>
            <a:prstDash val="solid"/>
            <a:round/>
            <a:headEnd len="sm" w="sm" type="none"/>
            <a:tailEnd len="sm" w="sm" type="none"/>
          </a:ln>
        </p:spPr>
      </p:cxnSp>
      <p:sp>
        <p:nvSpPr>
          <p:cNvPr id="298" name="Google Shape;298;p11"/>
          <p:cNvSpPr/>
          <p:nvPr/>
        </p:nvSpPr>
        <p:spPr>
          <a:xfrm>
            <a:off x="3749040" y="1444752"/>
            <a:ext cx="1627632" cy="25146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3749040" y="1444752"/>
            <a:ext cx="1627632" cy="64008"/>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3858768" y="1572768"/>
            <a:ext cx="1417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i="0" lang="en-US" sz="1200" u="none" cap="none" strike="noStrike">
                <a:solidFill>
                  <a:srgbClr val="1A6EBD"/>
                </a:solidFill>
                <a:latin typeface="Arial"/>
                <a:ea typeface="Arial"/>
                <a:cs typeface="Arial"/>
                <a:sym typeface="Arial"/>
              </a:rPr>
              <a:t>Week </a:t>
            </a:r>
            <a:r>
              <a:rPr b="1" lang="en-US" sz="1200">
                <a:solidFill>
                  <a:srgbClr val="1A6EBD"/>
                </a:solidFill>
              </a:rPr>
              <a:t>2</a:t>
            </a:r>
            <a:endParaRPr b="0" i="0" sz="1200" u="none" cap="none" strike="noStrike">
              <a:solidFill>
                <a:schemeClr val="dk1"/>
              </a:solidFill>
              <a:latin typeface="Calibri"/>
              <a:ea typeface="Calibri"/>
              <a:cs typeface="Calibri"/>
              <a:sym typeface="Calibri"/>
            </a:endParaRPr>
          </a:p>
        </p:txBody>
      </p:sp>
      <p:sp>
        <p:nvSpPr>
          <p:cNvPr id="301" name="Google Shape;301;p11"/>
          <p:cNvSpPr/>
          <p:nvPr/>
        </p:nvSpPr>
        <p:spPr>
          <a:xfrm>
            <a:off x="3858768" y="1938528"/>
            <a:ext cx="1417320" cy="164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Data Collection</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66 laps — full race</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NASA-TLX after</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Body part discomfort after</a:t>
            </a:r>
            <a:endParaRPr sz="1200">
              <a:solidFill>
                <a:schemeClr val="lt1"/>
              </a:solidFill>
              <a:latin typeface="Calibri"/>
              <a:ea typeface="Calibri"/>
              <a:cs typeface="Calibri"/>
              <a:sym typeface="Calibri"/>
            </a:endParaRPr>
          </a:p>
          <a:p>
            <a:pPr indent="0" lvl="0" marL="0" marR="0" rtl="0" algn="l">
              <a:spcBef>
                <a:spcPts val="0"/>
              </a:spcBef>
              <a:spcAft>
                <a:spcPts val="0"/>
              </a:spcAft>
              <a:buClr>
                <a:srgbClr val="8A8A8A"/>
              </a:buClr>
              <a:buSzPts val="1000"/>
              <a:buFont typeface="Arial"/>
              <a:buNone/>
            </a:pPr>
            <a:r>
              <a:t/>
            </a:r>
            <a:endParaRPr sz="1000">
              <a:solidFill>
                <a:srgbClr val="8A8A8A"/>
              </a:solidFill>
            </a:endParaRPr>
          </a:p>
        </p:txBody>
      </p:sp>
      <p:cxnSp>
        <p:nvCxnSpPr>
          <p:cNvPr id="302" name="Google Shape;302;p11"/>
          <p:cNvCxnSpPr/>
          <p:nvPr/>
        </p:nvCxnSpPr>
        <p:spPr>
          <a:xfrm>
            <a:off x="5404104" y="2724912"/>
            <a:ext cx="82296" cy="0"/>
          </a:xfrm>
          <a:prstGeom prst="straightConnector1">
            <a:avLst/>
          </a:prstGeom>
          <a:noFill/>
          <a:ln cap="flat" cmpd="sng" w="12700">
            <a:solidFill>
              <a:srgbClr val="333333"/>
            </a:solidFill>
            <a:prstDash val="solid"/>
            <a:round/>
            <a:headEnd len="sm" w="sm" type="none"/>
            <a:tailEnd len="sm" w="sm" type="none"/>
          </a:ln>
        </p:spPr>
      </p:cxnSp>
      <p:sp>
        <p:nvSpPr>
          <p:cNvPr id="303" name="Google Shape;303;p11"/>
          <p:cNvSpPr/>
          <p:nvPr/>
        </p:nvSpPr>
        <p:spPr>
          <a:xfrm>
            <a:off x="5486400" y="1444752"/>
            <a:ext cx="1627632" cy="25146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5486400" y="1444752"/>
            <a:ext cx="1627632" cy="64008"/>
          </a:xfrm>
          <a:prstGeom prst="rect">
            <a:avLst/>
          </a:prstGeom>
          <a:solidFill>
            <a:srgbClr val="2E90D6"/>
          </a:solidFill>
          <a:ln cap="flat" cmpd="sng" w="12700">
            <a:solidFill>
              <a:srgbClr val="2E9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5596128" y="1572768"/>
            <a:ext cx="1417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90D6"/>
              </a:buClr>
              <a:buSzPts val="1100"/>
              <a:buFont typeface="Arial"/>
              <a:buNone/>
            </a:pPr>
            <a:r>
              <a:rPr b="1" i="0" lang="en-US" sz="1200" u="none" cap="none" strike="noStrike">
                <a:solidFill>
                  <a:srgbClr val="2E90D6"/>
                </a:solidFill>
                <a:latin typeface="Arial"/>
                <a:ea typeface="Arial"/>
                <a:cs typeface="Arial"/>
                <a:sym typeface="Arial"/>
              </a:rPr>
              <a:t>Week </a:t>
            </a:r>
            <a:r>
              <a:rPr b="1" lang="en-US" sz="1200">
                <a:solidFill>
                  <a:srgbClr val="2E90D6"/>
                </a:solidFill>
              </a:rPr>
              <a:t>3</a:t>
            </a:r>
            <a:endParaRPr b="0" i="0" sz="1200" u="none" cap="none" strike="noStrike">
              <a:solidFill>
                <a:schemeClr val="dk1"/>
              </a:solidFill>
              <a:latin typeface="Calibri"/>
              <a:ea typeface="Calibri"/>
              <a:cs typeface="Calibri"/>
              <a:sym typeface="Calibri"/>
            </a:endParaRPr>
          </a:p>
        </p:txBody>
      </p:sp>
      <p:sp>
        <p:nvSpPr>
          <p:cNvPr id="306" name="Google Shape;306;p11"/>
          <p:cNvSpPr/>
          <p:nvPr/>
        </p:nvSpPr>
        <p:spPr>
          <a:xfrm>
            <a:off x="5596128" y="1938528"/>
            <a:ext cx="1417320" cy="164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Data Collection</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66 laps — full race</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NASA-TLX after</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Body part discomfort after</a:t>
            </a:r>
            <a:endParaRPr sz="1200">
              <a:solidFill>
                <a:schemeClr val="lt1"/>
              </a:solidFill>
              <a:latin typeface="Calibri"/>
              <a:ea typeface="Calibri"/>
              <a:cs typeface="Calibri"/>
              <a:sym typeface="Calibri"/>
            </a:endParaRPr>
          </a:p>
          <a:p>
            <a:pPr indent="0" lvl="0" marL="0" rtl="0" algn="l">
              <a:spcBef>
                <a:spcPts val="0"/>
              </a:spcBef>
              <a:spcAft>
                <a:spcPts val="0"/>
              </a:spcAft>
              <a:buClr>
                <a:srgbClr val="8A8A8A"/>
              </a:buClr>
              <a:buSzPts val="1000"/>
              <a:buFont typeface="Arial"/>
              <a:buNone/>
            </a:pPr>
            <a:r>
              <a:t/>
            </a:r>
            <a:endParaRPr sz="1000">
              <a:solidFill>
                <a:srgbClr val="8A8A8A"/>
              </a:solidFill>
            </a:endParaRPr>
          </a:p>
        </p:txBody>
      </p:sp>
      <p:cxnSp>
        <p:nvCxnSpPr>
          <p:cNvPr id="307" name="Google Shape;307;p11"/>
          <p:cNvCxnSpPr/>
          <p:nvPr/>
        </p:nvCxnSpPr>
        <p:spPr>
          <a:xfrm>
            <a:off x="7141464" y="2724912"/>
            <a:ext cx="82296" cy="0"/>
          </a:xfrm>
          <a:prstGeom prst="straightConnector1">
            <a:avLst/>
          </a:prstGeom>
          <a:noFill/>
          <a:ln cap="flat" cmpd="sng" w="12700">
            <a:solidFill>
              <a:srgbClr val="333333"/>
            </a:solidFill>
            <a:prstDash val="solid"/>
            <a:round/>
            <a:headEnd len="sm" w="sm" type="none"/>
            <a:tailEnd len="sm" w="sm" type="none"/>
          </a:ln>
        </p:spPr>
      </p:cxnSp>
      <p:sp>
        <p:nvSpPr>
          <p:cNvPr id="308" name="Google Shape;308;p11"/>
          <p:cNvSpPr/>
          <p:nvPr/>
        </p:nvSpPr>
        <p:spPr>
          <a:xfrm>
            <a:off x="7223760" y="1444752"/>
            <a:ext cx="1627632" cy="25146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7223760" y="1444752"/>
            <a:ext cx="1627632" cy="64008"/>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7333488" y="1572768"/>
            <a:ext cx="1417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i="0" lang="en-US" sz="1200" u="none" cap="none" strike="noStrike">
                <a:solidFill>
                  <a:srgbClr val="E8600A"/>
                </a:solidFill>
                <a:latin typeface="Arial"/>
                <a:ea typeface="Arial"/>
                <a:cs typeface="Arial"/>
                <a:sym typeface="Arial"/>
              </a:rPr>
              <a:t>Week </a:t>
            </a:r>
            <a:r>
              <a:rPr b="1" lang="en-US" sz="1200">
                <a:solidFill>
                  <a:srgbClr val="E8600A"/>
                </a:solidFill>
              </a:rPr>
              <a:t>4</a:t>
            </a:r>
            <a:endParaRPr b="0" i="0" sz="1200" u="none" cap="none" strike="noStrike">
              <a:solidFill>
                <a:schemeClr val="dk1"/>
              </a:solidFill>
              <a:latin typeface="Calibri"/>
              <a:ea typeface="Calibri"/>
              <a:cs typeface="Calibri"/>
              <a:sym typeface="Calibri"/>
            </a:endParaRPr>
          </a:p>
        </p:txBody>
      </p:sp>
      <p:sp>
        <p:nvSpPr>
          <p:cNvPr id="311" name="Google Shape;311;p11"/>
          <p:cNvSpPr/>
          <p:nvPr/>
        </p:nvSpPr>
        <p:spPr>
          <a:xfrm>
            <a:off x="7333488" y="1938528"/>
            <a:ext cx="1417320" cy="164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Data Collection</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66 laps — full race</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NASA-TLX after</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Body part discomfort after</a:t>
            </a:r>
            <a:endParaRPr sz="1200">
              <a:solidFill>
                <a:schemeClr val="lt1"/>
              </a:solidFill>
              <a:latin typeface="Calibri"/>
              <a:ea typeface="Calibri"/>
              <a:cs typeface="Calibri"/>
              <a:sym typeface="Calibri"/>
            </a:endParaRPr>
          </a:p>
          <a:p>
            <a:pPr indent="0" lvl="0" marL="0" rtl="0" algn="l">
              <a:spcBef>
                <a:spcPts val="0"/>
              </a:spcBef>
              <a:spcAft>
                <a:spcPts val="0"/>
              </a:spcAft>
              <a:buClr>
                <a:srgbClr val="8A8A8A"/>
              </a:buClr>
              <a:buSzPts val="1000"/>
              <a:buFont typeface="Arial"/>
              <a:buNone/>
            </a:pPr>
            <a:r>
              <a:t/>
            </a:r>
            <a:endParaRPr sz="1000">
              <a:solidFill>
                <a:srgbClr val="8A8A8A"/>
              </a:solidFill>
            </a:endParaRPr>
          </a:p>
        </p:txBody>
      </p:sp>
      <p:sp>
        <p:nvSpPr>
          <p:cNvPr id="312" name="Google Shape;312;p11"/>
          <p:cNvSpPr/>
          <p:nvPr/>
        </p:nvSpPr>
        <p:spPr>
          <a:xfrm>
            <a:off x="274320" y="4096512"/>
            <a:ext cx="8595360" cy="658368"/>
          </a:xfrm>
          <a:prstGeom prst="rect">
            <a:avLst/>
          </a:prstGeom>
          <a:solidFill>
            <a:srgbClr val="0A1A2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274320" y="4096512"/>
            <a:ext cx="8595360" cy="54864"/>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457200" y="4224528"/>
            <a:ext cx="25603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i="0" lang="en-US" sz="1100" u="none" cap="none" strike="noStrike">
                <a:solidFill>
                  <a:srgbClr val="1A6EBD"/>
                </a:solidFill>
                <a:latin typeface="Arial"/>
                <a:ea typeface="Arial"/>
                <a:cs typeface="Arial"/>
                <a:sym typeface="Arial"/>
              </a:rPr>
              <a:t>Counterbalancing</a:t>
            </a:r>
            <a:r>
              <a:rPr b="1" lang="en-US" sz="1100">
                <a:solidFill>
                  <a:srgbClr val="1A6EBD"/>
                </a:solidFill>
              </a:rPr>
              <a:t> </a:t>
            </a:r>
            <a:r>
              <a:rPr b="1" i="0" lang="en-US" sz="1100" u="none" cap="none" strike="noStrike">
                <a:solidFill>
                  <a:srgbClr val="1A6EBD"/>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315" name="Google Shape;315;p11"/>
          <p:cNvSpPr/>
          <p:nvPr/>
        </p:nvSpPr>
        <p:spPr>
          <a:xfrm>
            <a:off x="1801376" y="4224525"/>
            <a:ext cx="6931200" cy="43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050"/>
              <a:buFont typeface="Arial"/>
              <a:buNone/>
            </a:pPr>
            <a:r>
              <a:rPr lang="en-US" sz="1200">
                <a:solidFill>
                  <a:srgbClr val="E8E8E8"/>
                </a:solidFill>
              </a:rPr>
              <a:t>6 orderings × 5 participants  ·  every condition appeared equally as Race 1, 2, and 3  ·  all 9 conditions covered exactly 10 times</a:t>
            </a:r>
            <a:endParaRPr b="0" i="0" sz="1200" u="none" cap="none" strike="noStrike">
              <a:solidFill>
                <a:schemeClr val="dk1"/>
              </a:solidFill>
              <a:latin typeface="Calibri"/>
              <a:ea typeface="Calibri"/>
              <a:cs typeface="Calibri"/>
              <a:sym typeface="Calibri"/>
            </a:endParaRPr>
          </a:p>
        </p:txBody>
      </p:sp>
      <p:sp>
        <p:nvSpPr>
          <p:cNvPr id="316" name="Google Shape;316;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1A"/>
        </a:solidFill>
      </p:bgPr>
    </p:bg>
    <p:spTree>
      <p:nvGrpSpPr>
        <p:cNvPr id="321" name="Shape 321"/>
        <p:cNvGrpSpPr/>
        <p:nvPr/>
      </p:nvGrpSpPr>
      <p:grpSpPr>
        <a:xfrm>
          <a:off x="0" y="0"/>
          <a:ext cx="0" cy="0"/>
          <a:chOff x="0" y="0"/>
          <a:chExt cx="0" cy="0"/>
        </a:xfrm>
      </p:grpSpPr>
      <p:sp>
        <p:nvSpPr>
          <p:cNvPr id="322" name="Google Shape;322;p12"/>
          <p:cNvSpPr/>
          <p:nvPr/>
        </p:nvSpPr>
        <p:spPr>
          <a:xfrm>
            <a:off x="411480" y="201168"/>
            <a:ext cx="64008" cy="201168"/>
          </a:xfrm>
          <a:prstGeom prst="rect">
            <a:avLst/>
          </a:prstGeom>
          <a:solidFill>
            <a:srgbClr val="E8001D"/>
          </a:solidFill>
          <a:ln cap="flat" cmpd="sng" w="12700">
            <a:solidFill>
              <a:srgbClr val="E80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566928" y="201168"/>
            <a:ext cx="1828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001D"/>
              </a:buClr>
              <a:buSzPts val="900"/>
              <a:buFont typeface="Arial"/>
              <a:buNone/>
            </a:pPr>
            <a:r>
              <a:rPr b="1" i="0" lang="en-US" sz="900" u="none" cap="none" strike="noStrike">
                <a:solidFill>
                  <a:srgbClr val="E8001D"/>
                </a:solidFill>
                <a:latin typeface="Arial"/>
                <a:ea typeface="Arial"/>
                <a:cs typeface="Arial"/>
                <a:sym typeface="Arial"/>
              </a:rPr>
              <a:t>RESULTS</a:t>
            </a:r>
            <a:endParaRPr b="0" i="0" sz="900" u="none" cap="none" strike="noStrike">
              <a:solidFill>
                <a:schemeClr val="dk1"/>
              </a:solidFill>
              <a:latin typeface="Calibri"/>
              <a:ea typeface="Calibri"/>
              <a:cs typeface="Calibri"/>
              <a:sym typeface="Calibri"/>
            </a:endParaRPr>
          </a:p>
        </p:txBody>
      </p:sp>
      <p:sp>
        <p:nvSpPr>
          <p:cNvPr id="324" name="Google Shape;324;p12"/>
          <p:cNvSpPr/>
          <p:nvPr/>
        </p:nvSpPr>
        <p:spPr>
          <a:xfrm>
            <a:off x="411480" y="438912"/>
            <a:ext cx="8321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Arial Black"/>
              <a:buNone/>
            </a:pPr>
            <a:r>
              <a:rPr b="1" i="0" lang="en-US" sz="3200" u="none" cap="none" strike="noStrike">
                <a:solidFill>
                  <a:srgbClr val="FFFFFF"/>
                </a:solidFill>
                <a:latin typeface="Arial Black"/>
                <a:ea typeface="Arial Black"/>
                <a:cs typeface="Arial Black"/>
                <a:sym typeface="Arial Black"/>
              </a:rPr>
              <a:t>What We Found</a:t>
            </a:r>
            <a:endParaRPr b="0" i="0" sz="3200" u="none" cap="none" strike="noStrike">
              <a:solidFill>
                <a:schemeClr val="dk1"/>
              </a:solidFill>
              <a:latin typeface="Calibri"/>
              <a:ea typeface="Calibri"/>
              <a:cs typeface="Calibri"/>
              <a:sym typeface="Calibri"/>
            </a:endParaRPr>
          </a:p>
        </p:txBody>
      </p:sp>
      <p:sp>
        <p:nvSpPr>
          <p:cNvPr id="325" name="Google Shape;325;p12"/>
          <p:cNvSpPr/>
          <p:nvPr/>
        </p:nvSpPr>
        <p:spPr>
          <a:xfrm>
            <a:off x="411480" y="1069848"/>
            <a:ext cx="8321040" cy="22860"/>
          </a:xfrm>
          <a:prstGeom prst="rect">
            <a:avLst/>
          </a:prstGeom>
          <a:solidFill>
            <a:srgbClr val="1E7FCC"/>
          </a:solidFill>
          <a:ln cap="flat" cmpd="sng" w="12700">
            <a:solidFill>
              <a:srgbClr val="1E7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411480" y="1170432"/>
            <a:ext cx="8321040" cy="347472"/>
          </a:xfrm>
          <a:prstGeom prst="rect">
            <a:avLst/>
          </a:prstGeom>
          <a:solidFill>
            <a:srgbClr val="0D1B3E"/>
          </a:solidFill>
          <a:ln cap="flat" cmpd="sng" w="12700">
            <a:solidFill>
              <a:srgbClr val="1E2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502920" y="1179576"/>
            <a:ext cx="8138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ADDE"/>
              </a:buClr>
              <a:buSzPts val="1100"/>
              <a:buFont typeface="Arial"/>
              <a:buNone/>
            </a:pPr>
            <a:r>
              <a:rPr b="0" i="0" lang="en-US" sz="1100" u="none" cap="none" strike="noStrike">
                <a:solidFill>
                  <a:srgbClr val="8AADDE"/>
                </a:solidFill>
                <a:latin typeface="Arial"/>
                <a:ea typeface="Arial"/>
                <a:cs typeface="Arial"/>
                <a:sym typeface="Arial"/>
              </a:rPr>
              <a:t>Mixed Factorial ANOVA  |  Seat Clearance: Between-Subjects  ×  Reach Distance: Within-Subjects  |  N = 30  |  α = .05</a:t>
            </a:r>
            <a:endParaRPr b="0" i="0" sz="1100" u="none" cap="none" strike="noStrike">
              <a:solidFill>
                <a:schemeClr val="dk1"/>
              </a:solidFill>
              <a:latin typeface="Calibri"/>
              <a:ea typeface="Calibri"/>
              <a:cs typeface="Calibri"/>
              <a:sym typeface="Calibri"/>
            </a:endParaRPr>
          </a:p>
        </p:txBody>
      </p:sp>
      <p:sp>
        <p:nvSpPr>
          <p:cNvPr id="328" name="Google Shape;328;p12"/>
          <p:cNvSpPr/>
          <p:nvPr/>
        </p:nvSpPr>
        <p:spPr>
          <a:xfrm>
            <a:off x="411480" y="1600200"/>
            <a:ext cx="2011680" cy="1097280"/>
          </a:xfrm>
          <a:prstGeom prst="rect">
            <a:avLst/>
          </a:prstGeom>
          <a:solidFill>
            <a:srgbClr val="141928"/>
          </a:solidFill>
          <a:ln cap="flat" cmpd="sng" w="12700">
            <a:solidFill>
              <a:srgbClr val="1E2740"/>
            </a:solidFill>
            <a:prstDash val="solid"/>
            <a:round/>
            <a:headEnd len="sm" w="sm" type="none"/>
            <a:tailEnd len="sm" w="sm" type="none"/>
          </a:ln>
          <a:effectLst>
            <a:outerShdw blurRad="76200" rotWithShape="0" algn="bl" dir="81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411480" y="1600200"/>
            <a:ext cx="50292" cy="109728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576072" y="1673352"/>
            <a:ext cx="180136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55E"/>
              </a:buClr>
              <a:buSzPts val="850"/>
              <a:buFont typeface="Arial"/>
              <a:buNone/>
            </a:pPr>
            <a:r>
              <a:rPr b="1" i="0" lang="en-US" sz="850" u="none" cap="none" strike="noStrike">
                <a:solidFill>
                  <a:srgbClr val="22C55E"/>
                </a:solidFill>
                <a:latin typeface="Arial"/>
                <a:ea typeface="Arial"/>
                <a:cs typeface="Arial"/>
                <a:sym typeface="Arial"/>
              </a:rPr>
              <a:t>BEST CONDITION</a:t>
            </a:r>
            <a:endParaRPr b="0" i="0" sz="850" u="none" cap="none" strike="noStrike">
              <a:solidFill>
                <a:schemeClr val="dk1"/>
              </a:solidFill>
              <a:latin typeface="Calibri"/>
              <a:ea typeface="Calibri"/>
              <a:cs typeface="Calibri"/>
              <a:sym typeface="Calibri"/>
            </a:endParaRPr>
          </a:p>
        </p:txBody>
      </p:sp>
      <p:sp>
        <p:nvSpPr>
          <p:cNvPr id="331" name="Google Shape;331;p12"/>
          <p:cNvSpPr/>
          <p:nvPr/>
        </p:nvSpPr>
        <p:spPr>
          <a:xfrm>
            <a:off x="576072" y="1847088"/>
            <a:ext cx="180136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55E"/>
              </a:buClr>
              <a:buSzPts val="2600"/>
              <a:buFont typeface="Arial Black"/>
              <a:buNone/>
            </a:pPr>
            <a:r>
              <a:rPr b="1" i="0" lang="en-US" sz="2600" u="none" cap="none" strike="noStrike">
                <a:solidFill>
                  <a:srgbClr val="22C55E"/>
                </a:solidFill>
                <a:latin typeface="Arial Black"/>
                <a:ea typeface="Arial Black"/>
                <a:cs typeface="Arial Black"/>
                <a:sym typeface="Arial Black"/>
              </a:rPr>
              <a:t>6,598 sec</a:t>
            </a:r>
            <a:endParaRPr b="0" i="0" sz="2600" u="none" cap="none" strike="noStrike">
              <a:solidFill>
                <a:schemeClr val="dk1"/>
              </a:solidFill>
              <a:latin typeface="Calibri"/>
              <a:ea typeface="Calibri"/>
              <a:cs typeface="Calibri"/>
              <a:sym typeface="Calibri"/>
            </a:endParaRPr>
          </a:p>
        </p:txBody>
      </p:sp>
      <p:sp>
        <p:nvSpPr>
          <p:cNvPr id="332" name="Google Shape;332;p12"/>
          <p:cNvSpPr/>
          <p:nvPr/>
        </p:nvSpPr>
        <p:spPr>
          <a:xfrm>
            <a:off x="576072" y="2313432"/>
            <a:ext cx="180136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850"/>
              <a:buFont typeface="Arial"/>
              <a:buNone/>
            </a:pPr>
            <a:r>
              <a:rPr b="0" i="0" lang="en-US" sz="850" u="none" cap="none" strike="noStrike">
                <a:solidFill>
                  <a:srgbClr val="8A94A6"/>
                </a:solidFill>
                <a:latin typeface="Arial"/>
                <a:ea typeface="Arial"/>
                <a:cs typeface="Arial"/>
                <a:sym typeface="Arial"/>
              </a:rPr>
              <a:t>Optimal seat × </a:t>
            </a:r>
            <a:r>
              <a:rPr lang="en-US" sz="850">
                <a:solidFill>
                  <a:srgbClr val="8A94A6"/>
                </a:solidFill>
              </a:rPr>
              <a:t>Moderate </a:t>
            </a:r>
            <a:r>
              <a:rPr b="0" i="0" lang="en-US" sz="850" u="none" cap="none" strike="noStrike">
                <a:solidFill>
                  <a:srgbClr val="8A94A6"/>
                </a:solidFill>
                <a:latin typeface="Arial"/>
                <a:ea typeface="Arial"/>
                <a:cs typeface="Arial"/>
                <a:sym typeface="Arial"/>
              </a:rPr>
              <a:t>reach — fastest race time</a:t>
            </a:r>
            <a:endParaRPr b="0" i="0" sz="850" u="none" cap="none" strike="noStrike">
              <a:solidFill>
                <a:schemeClr val="dk1"/>
              </a:solidFill>
              <a:latin typeface="Calibri"/>
              <a:ea typeface="Calibri"/>
              <a:cs typeface="Calibri"/>
              <a:sym typeface="Calibri"/>
            </a:endParaRPr>
          </a:p>
        </p:txBody>
      </p:sp>
      <p:sp>
        <p:nvSpPr>
          <p:cNvPr id="333" name="Google Shape;333;p12"/>
          <p:cNvSpPr/>
          <p:nvPr/>
        </p:nvSpPr>
        <p:spPr>
          <a:xfrm>
            <a:off x="2542032" y="1600200"/>
            <a:ext cx="2011680" cy="1097280"/>
          </a:xfrm>
          <a:prstGeom prst="rect">
            <a:avLst/>
          </a:prstGeom>
          <a:solidFill>
            <a:srgbClr val="141928"/>
          </a:solidFill>
          <a:ln cap="flat" cmpd="sng" w="12700">
            <a:solidFill>
              <a:srgbClr val="1E2740"/>
            </a:solidFill>
            <a:prstDash val="solid"/>
            <a:round/>
            <a:headEnd len="sm" w="sm" type="none"/>
            <a:tailEnd len="sm" w="sm" type="none"/>
          </a:ln>
          <a:effectLst>
            <a:outerShdw blurRad="76200" rotWithShape="0" algn="bl" dir="81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2542032" y="1600200"/>
            <a:ext cx="50292" cy="1097280"/>
          </a:xfrm>
          <a:prstGeom prst="rect">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2706624" y="1673352"/>
            <a:ext cx="180136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850"/>
              <a:buFont typeface="Arial"/>
              <a:buNone/>
            </a:pPr>
            <a:r>
              <a:rPr b="1" i="0" lang="en-US" sz="850" u="none" cap="none" strike="noStrike">
                <a:solidFill>
                  <a:srgbClr val="F97316"/>
                </a:solidFill>
                <a:latin typeface="Arial"/>
                <a:ea typeface="Arial"/>
                <a:cs typeface="Arial"/>
                <a:sym typeface="Arial"/>
              </a:rPr>
              <a:t>WORST CONDITION</a:t>
            </a:r>
            <a:endParaRPr b="0" i="0" sz="850" u="none" cap="none" strike="noStrike">
              <a:solidFill>
                <a:schemeClr val="dk1"/>
              </a:solidFill>
              <a:latin typeface="Calibri"/>
              <a:ea typeface="Calibri"/>
              <a:cs typeface="Calibri"/>
              <a:sym typeface="Calibri"/>
            </a:endParaRPr>
          </a:p>
        </p:txBody>
      </p:sp>
      <p:sp>
        <p:nvSpPr>
          <p:cNvPr id="336" name="Google Shape;336;p12"/>
          <p:cNvSpPr/>
          <p:nvPr/>
        </p:nvSpPr>
        <p:spPr>
          <a:xfrm>
            <a:off x="2706624" y="1847088"/>
            <a:ext cx="180136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2600"/>
              <a:buFont typeface="Arial Black"/>
              <a:buNone/>
            </a:pPr>
            <a:r>
              <a:rPr b="1" i="0" lang="en-US" sz="2600" u="none" cap="none" strike="noStrike">
                <a:solidFill>
                  <a:srgbClr val="F97316"/>
                </a:solidFill>
                <a:latin typeface="Arial Black"/>
                <a:ea typeface="Arial Black"/>
                <a:cs typeface="Arial Black"/>
                <a:sym typeface="Arial Black"/>
              </a:rPr>
              <a:t>6,855 sec</a:t>
            </a:r>
            <a:endParaRPr b="0" i="0" sz="2600" u="none" cap="none" strike="noStrike">
              <a:solidFill>
                <a:schemeClr val="dk1"/>
              </a:solidFill>
              <a:latin typeface="Calibri"/>
              <a:ea typeface="Calibri"/>
              <a:cs typeface="Calibri"/>
              <a:sym typeface="Calibri"/>
            </a:endParaRPr>
          </a:p>
        </p:txBody>
      </p:sp>
      <p:sp>
        <p:nvSpPr>
          <p:cNvPr id="337" name="Google Shape;337;p12"/>
          <p:cNvSpPr/>
          <p:nvPr/>
        </p:nvSpPr>
        <p:spPr>
          <a:xfrm>
            <a:off x="2706624" y="2313432"/>
            <a:ext cx="180136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850"/>
              <a:buFont typeface="Arial"/>
              <a:buNone/>
            </a:pPr>
            <a:r>
              <a:rPr b="0" i="0" lang="en-US" sz="850" u="none" cap="none" strike="noStrike">
                <a:solidFill>
                  <a:srgbClr val="8A94A6"/>
                </a:solidFill>
                <a:latin typeface="Arial"/>
                <a:ea typeface="Arial"/>
                <a:cs typeface="Arial"/>
                <a:sym typeface="Arial"/>
              </a:rPr>
              <a:t>Undersized seat × Close reach — slowest race time</a:t>
            </a:r>
            <a:endParaRPr b="0" i="0" sz="850" u="none" cap="none" strike="noStrike">
              <a:solidFill>
                <a:schemeClr val="dk1"/>
              </a:solidFill>
              <a:latin typeface="Calibri"/>
              <a:ea typeface="Calibri"/>
              <a:cs typeface="Calibri"/>
              <a:sym typeface="Calibri"/>
            </a:endParaRPr>
          </a:p>
        </p:txBody>
      </p:sp>
      <p:sp>
        <p:nvSpPr>
          <p:cNvPr id="338" name="Google Shape;338;p12"/>
          <p:cNvSpPr/>
          <p:nvPr/>
        </p:nvSpPr>
        <p:spPr>
          <a:xfrm>
            <a:off x="4672584" y="1600200"/>
            <a:ext cx="2011680" cy="1097280"/>
          </a:xfrm>
          <a:prstGeom prst="rect">
            <a:avLst/>
          </a:prstGeom>
          <a:solidFill>
            <a:srgbClr val="141928"/>
          </a:solidFill>
          <a:ln cap="flat" cmpd="sng" w="12700">
            <a:solidFill>
              <a:srgbClr val="1E2740"/>
            </a:solidFill>
            <a:prstDash val="solid"/>
            <a:round/>
            <a:headEnd len="sm" w="sm" type="none"/>
            <a:tailEnd len="sm" w="sm" type="none"/>
          </a:ln>
          <a:effectLst>
            <a:outerShdw blurRad="76200" rotWithShape="0" algn="bl" dir="81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p:nvPr/>
        </p:nvSpPr>
        <p:spPr>
          <a:xfrm>
            <a:off x="4672584" y="1600200"/>
            <a:ext cx="50292" cy="1097280"/>
          </a:xfrm>
          <a:prstGeom prst="rect">
            <a:avLst/>
          </a:prstGeom>
          <a:solidFill>
            <a:srgbClr val="FBBF24"/>
          </a:solidFill>
          <a:ln cap="flat" cmpd="sng" w="12700">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4837176" y="1673352"/>
            <a:ext cx="180136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850"/>
              <a:buFont typeface="Arial"/>
              <a:buNone/>
            </a:pPr>
            <a:r>
              <a:rPr b="1" i="0" lang="en-US" sz="850" u="none" cap="none" strike="noStrike">
                <a:solidFill>
                  <a:srgbClr val="FBBF24"/>
                </a:solidFill>
                <a:latin typeface="Arial"/>
                <a:ea typeface="Arial"/>
                <a:cs typeface="Arial"/>
                <a:sym typeface="Arial"/>
              </a:rPr>
              <a:t>PERFORMANCE GAP</a:t>
            </a:r>
            <a:endParaRPr b="0" i="0" sz="850" u="none" cap="none" strike="noStrike">
              <a:solidFill>
                <a:schemeClr val="dk1"/>
              </a:solidFill>
              <a:latin typeface="Calibri"/>
              <a:ea typeface="Calibri"/>
              <a:cs typeface="Calibri"/>
              <a:sym typeface="Calibri"/>
            </a:endParaRPr>
          </a:p>
        </p:txBody>
      </p:sp>
      <p:sp>
        <p:nvSpPr>
          <p:cNvPr id="341" name="Google Shape;341;p12"/>
          <p:cNvSpPr/>
          <p:nvPr/>
        </p:nvSpPr>
        <p:spPr>
          <a:xfrm>
            <a:off x="4837176" y="1847088"/>
            <a:ext cx="180136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2600"/>
              <a:buFont typeface="Arial Black"/>
              <a:buNone/>
            </a:pPr>
            <a:r>
              <a:rPr b="1" i="0" lang="en-US" sz="2600" u="none" cap="none" strike="noStrike">
                <a:solidFill>
                  <a:srgbClr val="FBBF24"/>
                </a:solidFill>
                <a:latin typeface="Arial Black"/>
                <a:ea typeface="Arial Black"/>
                <a:cs typeface="Arial Black"/>
                <a:sym typeface="Arial Black"/>
              </a:rPr>
              <a:t>257 sec</a:t>
            </a:r>
            <a:endParaRPr b="0" i="0" sz="2600" u="none" cap="none" strike="noStrike">
              <a:solidFill>
                <a:schemeClr val="dk1"/>
              </a:solidFill>
              <a:latin typeface="Calibri"/>
              <a:ea typeface="Calibri"/>
              <a:cs typeface="Calibri"/>
              <a:sym typeface="Calibri"/>
            </a:endParaRPr>
          </a:p>
        </p:txBody>
      </p:sp>
      <p:sp>
        <p:nvSpPr>
          <p:cNvPr id="342" name="Google Shape;342;p12"/>
          <p:cNvSpPr/>
          <p:nvPr/>
        </p:nvSpPr>
        <p:spPr>
          <a:xfrm>
            <a:off x="4837176" y="2313432"/>
            <a:ext cx="180136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850"/>
              <a:buFont typeface="Arial"/>
              <a:buNone/>
            </a:pPr>
            <a:r>
              <a:rPr b="0" i="0" lang="en-US" sz="850" u="none" cap="none" strike="noStrike">
                <a:solidFill>
                  <a:srgbClr val="8A94A6"/>
                </a:solidFill>
                <a:latin typeface="Arial"/>
                <a:ea typeface="Arial"/>
                <a:cs typeface="Arial"/>
                <a:sym typeface="Arial"/>
              </a:rPr>
              <a:t>Race time difference: best vs. worst condition</a:t>
            </a:r>
            <a:endParaRPr b="0" i="0" sz="850" u="none" cap="none" strike="noStrike">
              <a:solidFill>
                <a:schemeClr val="dk1"/>
              </a:solidFill>
              <a:latin typeface="Calibri"/>
              <a:ea typeface="Calibri"/>
              <a:cs typeface="Calibri"/>
              <a:sym typeface="Calibri"/>
            </a:endParaRPr>
          </a:p>
        </p:txBody>
      </p:sp>
      <p:sp>
        <p:nvSpPr>
          <p:cNvPr id="343" name="Google Shape;343;p12"/>
          <p:cNvSpPr/>
          <p:nvPr/>
        </p:nvSpPr>
        <p:spPr>
          <a:xfrm>
            <a:off x="6803136" y="1600200"/>
            <a:ext cx="2011680" cy="1097280"/>
          </a:xfrm>
          <a:prstGeom prst="rect">
            <a:avLst/>
          </a:prstGeom>
          <a:solidFill>
            <a:srgbClr val="141928"/>
          </a:solidFill>
          <a:ln cap="flat" cmpd="sng" w="12700">
            <a:solidFill>
              <a:srgbClr val="1E2740"/>
            </a:solidFill>
            <a:prstDash val="solid"/>
            <a:round/>
            <a:headEnd len="sm" w="sm" type="none"/>
            <a:tailEnd len="sm" w="sm" type="none"/>
          </a:ln>
          <a:effectLst>
            <a:outerShdw blurRad="76200" rotWithShape="0" algn="bl" dir="81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6803136" y="1600200"/>
            <a:ext cx="50292" cy="1097280"/>
          </a:xfrm>
          <a:prstGeom prst="rect">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6967728" y="1673352"/>
            <a:ext cx="180136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850"/>
              <a:buFont typeface="Arial"/>
              <a:buNone/>
            </a:pPr>
            <a:r>
              <a:rPr b="1" i="0" lang="en-US" sz="850" u="none" cap="none" strike="noStrike">
                <a:solidFill>
                  <a:srgbClr val="38BDF8"/>
                </a:solidFill>
                <a:latin typeface="Arial"/>
                <a:ea typeface="Arial"/>
                <a:cs typeface="Arial"/>
                <a:sym typeface="Arial"/>
              </a:rPr>
              <a:t>HIGHEST WORKLOAD</a:t>
            </a:r>
            <a:endParaRPr b="0" i="0" sz="850" u="none" cap="none" strike="noStrike">
              <a:solidFill>
                <a:schemeClr val="dk1"/>
              </a:solidFill>
              <a:latin typeface="Calibri"/>
              <a:ea typeface="Calibri"/>
              <a:cs typeface="Calibri"/>
              <a:sym typeface="Calibri"/>
            </a:endParaRPr>
          </a:p>
        </p:txBody>
      </p:sp>
      <p:sp>
        <p:nvSpPr>
          <p:cNvPr id="346" name="Google Shape;346;p12"/>
          <p:cNvSpPr/>
          <p:nvPr/>
        </p:nvSpPr>
        <p:spPr>
          <a:xfrm>
            <a:off x="6967728" y="1847088"/>
            <a:ext cx="180136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2600"/>
              <a:buFont typeface="Arial Black"/>
              <a:buNone/>
            </a:pPr>
            <a:r>
              <a:rPr b="1" i="0" lang="en-US" sz="2600" u="none" cap="none" strike="noStrike">
                <a:solidFill>
                  <a:srgbClr val="38BDF8"/>
                </a:solidFill>
                <a:latin typeface="Arial Black"/>
                <a:ea typeface="Arial Black"/>
                <a:cs typeface="Arial Black"/>
                <a:sym typeface="Arial Black"/>
              </a:rPr>
              <a:t>81.3 TLX</a:t>
            </a:r>
            <a:endParaRPr b="0" i="0" sz="2600" u="none" cap="none" strike="noStrike">
              <a:solidFill>
                <a:schemeClr val="dk1"/>
              </a:solidFill>
              <a:latin typeface="Calibri"/>
              <a:ea typeface="Calibri"/>
              <a:cs typeface="Calibri"/>
              <a:sym typeface="Calibri"/>
            </a:endParaRPr>
          </a:p>
        </p:txBody>
      </p:sp>
      <p:sp>
        <p:nvSpPr>
          <p:cNvPr id="347" name="Google Shape;347;p12"/>
          <p:cNvSpPr/>
          <p:nvPr/>
        </p:nvSpPr>
        <p:spPr>
          <a:xfrm>
            <a:off x="6967728" y="2313432"/>
            <a:ext cx="180136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850"/>
              <a:buFont typeface="Arial"/>
              <a:buNone/>
            </a:pPr>
            <a:r>
              <a:rPr b="0" i="0" lang="en-US" sz="850" u="none" cap="none" strike="noStrike">
                <a:solidFill>
                  <a:srgbClr val="8A94A6"/>
                </a:solidFill>
                <a:latin typeface="Arial"/>
                <a:ea typeface="Arial"/>
                <a:cs typeface="Arial"/>
                <a:sym typeface="Arial"/>
              </a:rPr>
              <a:t>Undersized × Close — highest NASA-TLX score</a:t>
            </a:r>
            <a:endParaRPr b="0" i="0" sz="850" u="none" cap="none" strike="noStrike">
              <a:solidFill>
                <a:schemeClr val="dk1"/>
              </a:solidFill>
              <a:latin typeface="Calibri"/>
              <a:ea typeface="Calibri"/>
              <a:cs typeface="Calibri"/>
              <a:sym typeface="Calibri"/>
            </a:endParaRPr>
          </a:p>
        </p:txBody>
      </p:sp>
      <p:sp>
        <p:nvSpPr>
          <p:cNvPr id="348" name="Google Shape;348;p12"/>
          <p:cNvSpPr/>
          <p:nvPr/>
        </p:nvSpPr>
        <p:spPr>
          <a:xfrm>
            <a:off x="411480" y="2706448"/>
            <a:ext cx="8321100" cy="274200"/>
          </a:xfrm>
          <a:prstGeom prst="rect">
            <a:avLst/>
          </a:prstGeom>
          <a:solidFill>
            <a:srgbClr val="12223D"/>
          </a:solidFill>
          <a:ln cap="flat" cmpd="sng" w="12700">
            <a:solidFill>
              <a:srgbClr val="1E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457200" y="2743024"/>
            <a:ext cx="1600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DDE"/>
              </a:buClr>
              <a:buSzPts val="900"/>
              <a:buFont typeface="Arial"/>
              <a:buNone/>
            </a:pPr>
            <a:r>
              <a:rPr b="1" i="0" lang="en-US" sz="900" u="none" cap="none" strike="noStrike">
                <a:solidFill>
                  <a:srgbClr val="8AADDE"/>
                </a:solidFill>
                <a:latin typeface="Arial"/>
                <a:ea typeface="Arial"/>
                <a:cs typeface="Arial"/>
                <a:sym typeface="Arial"/>
              </a:rPr>
              <a:t>Source</a:t>
            </a:r>
            <a:endParaRPr b="0" i="0" sz="900" u="none" cap="none" strike="noStrike">
              <a:solidFill>
                <a:schemeClr val="dk1"/>
              </a:solidFill>
              <a:latin typeface="Calibri"/>
              <a:ea typeface="Calibri"/>
              <a:cs typeface="Calibri"/>
              <a:sym typeface="Calibri"/>
            </a:endParaRPr>
          </a:p>
        </p:txBody>
      </p:sp>
      <p:sp>
        <p:nvSpPr>
          <p:cNvPr id="350" name="Google Shape;350;p12"/>
          <p:cNvSpPr/>
          <p:nvPr/>
        </p:nvSpPr>
        <p:spPr>
          <a:xfrm>
            <a:off x="2148840" y="2743024"/>
            <a:ext cx="13260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ADDE"/>
              </a:buClr>
              <a:buSzPts val="900"/>
              <a:buFont typeface="Arial"/>
              <a:buNone/>
            </a:pPr>
            <a:r>
              <a:rPr b="1" i="0" lang="en-US" sz="900" u="none" cap="none" strike="noStrike">
                <a:solidFill>
                  <a:srgbClr val="8AADDE"/>
                </a:solidFill>
                <a:latin typeface="Arial"/>
                <a:ea typeface="Arial"/>
                <a:cs typeface="Arial"/>
                <a:sym typeface="Arial"/>
              </a:rPr>
              <a:t>Race Time</a:t>
            </a:r>
            <a:endParaRPr b="0" i="0" sz="900" u="none" cap="none" strike="noStrike">
              <a:solidFill>
                <a:schemeClr val="dk1"/>
              </a:solidFill>
              <a:latin typeface="Calibri"/>
              <a:ea typeface="Calibri"/>
              <a:cs typeface="Calibri"/>
              <a:sym typeface="Calibri"/>
            </a:endParaRPr>
          </a:p>
        </p:txBody>
      </p:sp>
      <p:sp>
        <p:nvSpPr>
          <p:cNvPr id="351" name="Google Shape;351;p12"/>
          <p:cNvSpPr/>
          <p:nvPr/>
        </p:nvSpPr>
        <p:spPr>
          <a:xfrm>
            <a:off x="3566160" y="2743024"/>
            <a:ext cx="13260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ADDE"/>
              </a:buClr>
              <a:buSzPts val="900"/>
              <a:buFont typeface="Arial"/>
              <a:buNone/>
            </a:pPr>
            <a:r>
              <a:rPr b="1" i="0" lang="en-US" sz="900" u="none" cap="none" strike="noStrike">
                <a:solidFill>
                  <a:srgbClr val="8AADDE"/>
                </a:solidFill>
                <a:latin typeface="Arial"/>
                <a:ea typeface="Arial"/>
                <a:cs typeface="Arial"/>
                <a:sym typeface="Arial"/>
              </a:rPr>
              <a:t>Error Count</a:t>
            </a:r>
            <a:endParaRPr b="0" i="0" sz="900" u="none" cap="none" strike="noStrike">
              <a:solidFill>
                <a:schemeClr val="dk1"/>
              </a:solidFill>
              <a:latin typeface="Calibri"/>
              <a:ea typeface="Calibri"/>
              <a:cs typeface="Calibri"/>
              <a:sym typeface="Calibri"/>
            </a:endParaRPr>
          </a:p>
        </p:txBody>
      </p:sp>
      <p:sp>
        <p:nvSpPr>
          <p:cNvPr id="352" name="Google Shape;352;p12"/>
          <p:cNvSpPr/>
          <p:nvPr/>
        </p:nvSpPr>
        <p:spPr>
          <a:xfrm>
            <a:off x="4983480" y="2743024"/>
            <a:ext cx="13260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ADDE"/>
              </a:buClr>
              <a:buSzPts val="900"/>
              <a:buFont typeface="Arial"/>
              <a:buNone/>
            </a:pPr>
            <a:r>
              <a:rPr b="1" i="0" lang="en-US" sz="900" u="none" cap="none" strike="noStrike">
                <a:solidFill>
                  <a:srgbClr val="8AADDE"/>
                </a:solidFill>
                <a:latin typeface="Arial"/>
                <a:ea typeface="Arial"/>
                <a:cs typeface="Arial"/>
                <a:sym typeface="Arial"/>
              </a:rPr>
              <a:t>NASA-TLX</a:t>
            </a:r>
            <a:endParaRPr b="0" i="0" sz="900" u="none" cap="none" strike="noStrike">
              <a:solidFill>
                <a:schemeClr val="dk1"/>
              </a:solidFill>
              <a:latin typeface="Calibri"/>
              <a:ea typeface="Calibri"/>
              <a:cs typeface="Calibri"/>
              <a:sym typeface="Calibri"/>
            </a:endParaRPr>
          </a:p>
        </p:txBody>
      </p:sp>
      <p:sp>
        <p:nvSpPr>
          <p:cNvPr id="353" name="Google Shape;353;p12"/>
          <p:cNvSpPr/>
          <p:nvPr/>
        </p:nvSpPr>
        <p:spPr>
          <a:xfrm>
            <a:off x="6400800" y="2743024"/>
            <a:ext cx="1645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ADDE"/>
              </a:buClr>
              <a:buSzPts val="900"/>
              <a:buFont typeface="Arial"/>
              <a:buNone/>
            </a:pPr>
            <a:r>
              <a:rPr b="1" i="0" lang="en-US" sz="900" u="none" cap="none" strike="noStrike">
                <a:solidFill>
                  <a:srgbClr val="8AADDE"/>
                </a:solidFill>
                <a:latin typeface="Arial"/>
                <a:ea typeface="Arial"/>
                <a:cs typeface="Arial"/>
                <a:sym typeface="Arial"/>
              </a:rPr>
              <a:t>Avg BPD</a:t>
            </a:r>
            <a:endParaRPr b="0" i="0" sz="900" u="none" cap="none" strike="noStrike">
              <a:solidFill>
                <a:schemeClr val="dk1"/>
              </a:solidFill>
              <a:latin typeface="Calibri"/>
              <a:ea typeface="Calibri"/>
              <a:cs typeface="Calibri"/>
              <a:sym typeface="Calibri"/>
            </a:endParaRPr>
          </a:p>
        </p:txBody>
      </p:sp>
      <p:sp>
        <p:nvSpPr>
          <p:cNvPr id="354" name="Google Shape;354;p12"/>
          <p:cNvSpPr/>
          <p:nvPr/>
        </p:nvSpPr>
        <p:spPr>
          <a:xfrm>
            <a:off x="411480" y="2980768"/>
            <a:ext cx="8321100" cy="567000"/>
          </a:xfrm>
          <a:prstGeom prst="rect">
            <a:avLst/>
          </a:prstGeom>
          <a:solidFill>
            <a:srgbClr val="141928"/>
          </a:solidFill>
          <a:ln cap="flat" cmpd="sng" w="12700">
            <a:solidFill>
              <a:srgbClr val="1E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457200" y="3026488"/>
            <a:ext cx="1600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Seat Clearance</a:t>
            </a:r>
            <a:endParaRPr b="0" i="0" sz="950" u="none" cap="none" strike="noStrike">
              <a:solidFill>
                <a:schemeClr val="dk1"/>
              </a:solidFill>
              <a:latin typeface="Calibri"/>
              <a:ea typeface="Calibri"/>
              <a:cs typeface="Calibri"/>
              <a:sym typeface="Calibri"/>
            </a:endParaRPr>
          </a:p>
        </p:txBody>
      </p:sp>
      <p:sp>
        <p:nvSpPr>
          <p:cNvPr id="356" name="Google Shape;356;p12"/>
          <p:cNvSpPr/>
          <p:nvPr/>
        </p:nvSpPr>
        <p:spPr>
          <a:xfrm>
            <a:off x="2148840" y="3026488"/>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F(2,27)=99.78</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η²=.881</a:t>
            </a:r>
            <a:endParaRPr b="0" i="0" sz="950" u="none" cap="none" strike="noStrike">
              <a:solidFill>
                <a:schemeClr val="dk1"/>
              </a:solidFill>
              <a:latin typeface="Calibri"/>
              <a:ea typeface="Calibri"/>
              <a:cs typeface="Calibri"/>
              <a:sym typeface="Calibri"/>
            </a:endParaRPr>
          </a:p>
        </p:txBody>
      </p:sp>
      <p:sp>
        <p:nvSpPr>
          <p:cNvPr id="357" name="Google Shape;357;p12"/>
          <p:cNvSpPr/>
          <p:nvPr/>
        </p:nvSpPr>
        <p:spPr>
          <a:xfrm>
            <a:off x="3566160" y="3026488"/>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F(2,27)=74.67</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η²=.847</a:t>
            </a:r>
            <a:endParaRPr b="0" i="0" sz="950" u="none" cap="none" strike="noStrike">
              <a:solidFill>
                <a:schemeClr val="dk1"/>
              </a:solidFill>
              <a:latin typeface="Calibri"/>
              <a:ea typeface="Calibri"/>
              <a:cs typeface="Calibri"/>
              <a:sym typeface="Calibri"/>
            </a:endParaRPr>
          </a:p>
        </p:txBody>
      </p:sp>
      <p:sp>
        <p:nvSpPr>
          <p:cNvPr id="358" name="Google Shape;358;p12"/>
          <p:cNvSpPr/>
          <p:nvPr/>
        </p:nvSpPr>
        <p:spPr>
          <a:xfrm>
            <a:off x="4983480" y="3026488"/>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F(2,27)=31.59</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η²=.701</a:t>
            </a:r>
            <a:endParaRPr b="0" i="0" sz="950" u="none" cap="none" strike="noStrike">
              <a:solidFill>
                <a:schemeClr val="dk1"/>
              </a:solidFill>
              <a:latin typeface="Calibri"/>
              <a:ea typeface="Calibri"/>
              <a:cs typeface="Calibri"/>
              <a:sym typeface="Calibri"/>
            </a:endParaRPr>
          </a:p>
        </p:txBody>
      </p:sp>
      <p:sp>
        <p:nvSpPr>
          <p:cNvPr id="359" name="Google Shape;359;p12"/>
          <p:cNvSpPr/>
          <p:nvPr/>
        </p:nvSpPr>
        <p:spPr>
          <a:xfrm>
            <a:off x="6400800" y="3026488"/>
            <a:ext cx="16458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F(2,27)=166.66</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η²=.925</a:t>
            </a:r>
            <a:endParaRPr b="0" i="0" sz="950" u="none" cap="none" strike="noStrike">
              <a:solidFill>
                <a:schemeClr val="dk1"/>
              </a:solidFill>
              <a:latin typeface="Calibri"/>
              <a:ea typeface="Calibri"/>
              <a:cs typeface="Calibri"/>
              <a:sym typeface="Calibri"/>
            </a:endParaRPr>
          </a:p>
        </p:txBody>
      </p:sp>
      <p:sp>
        <p:nvSpPr>
          <p:cNvPr id="360" name="Google Shape;360;p12"/>
          <p:cNvSpPr/>
          <p:nvPr/>
        </p:nvSpPr>
        <p:spPr>
          <a:xfrm>
            <a:off x="411480" y="3547696"/>
            <a:ext cx="8321100" cy="567000"/>
          </a:xfrm>
          <a:prstGeom prst="rect">
            <a:avLst/>
          </a:prstGeom>
          <a:solidFill>
            <a:srgbClr val="0F1620"/>
          </a:solidFill>
          <a:ln cap="flat" cmpd="sng" w="12700">
            <a:solidFill>
              <a:srgbClr val="1E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457200" y="3593416"/>
            <a:ext cx="1600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Reach Distance</a:t>
            </a:r>
            <a:endParaRPr b="0" i="0" sz="950" u="none" cap="none" strike="noStrike">
              <a:solidFill>
                <a:schemeClr val="dk1"/>
              </a:solidFill>
              <a:latin typeface="Calibri"/>
              <a:ea typeface="Calibri"/>
              <a:cs typeface="Calibri"/>
              <a:sym typeface="Calibri"/>
            </a:endParaRPr>
          </a:p>
        </p:txBody>
      </p:sp>
      <p:sp>
        <p:nvSpPr>
          <p:cNvPr id="362" name="Google Shape;362;p12"/>
          <p:cNvSpPr/>
          <p:nvPr/>
        </p:nvSpPr>
        <p:spPr>
          <a:xfrm>
            <a:off x="2148840" y="3593416"/>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F(2,54)=73.21</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η²=.731</a:t>
            </a:r>
            <a:endParaRPr b="0" i="0" sz="950" u="none" cap="none" strike="noStrike">
              <a:solidFill>
                <a:schemeClr val="dk1"/>
              </a:solidFill>
              <a:latin typeface="Calibri"/>
              <a:ea typeface="Calibri"/>
              <a:cs typeface="Calibri"/>
              <a:sym typeface="Calibri"/>
            </a:endParaRPr>
          </a:p>
        </p:txBody>
      </p:sp>
      <p:sp>
        <p:nvSpPr>
          <p:cNvPr id="363" name="Google Shape;363;p12"/>
          <p:cNvSpPr/>
          <p:nvPr/>
        </p:nvSpPr>
        <p:spPr>
          <a:xfrm>
            <a:off x="3566160" y="3593416"/>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F(2,54)=28.56</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η²=.514</a:t>
            </a:r>
            <a:endParaRPr b="0" i="0" sz="950" u="none" cap="none" strike="noStrike">
              <a:solidFill>
                <a:schemeClr val="dk1"/>
              </a:solidFill>
              <a:latin typeface="Calibri"/>
              <a:ea typeface="Calibri"/>
              <a:cs typeface="Calibri"/>
              <a:sym typeface="Calibri"/>
            </a:endParaRPr>
          </a:p>
        </p:txBody>
      </p:sp>
      <p:sp>
        <p:nvSpPr>
          <p:cNvPr id="364" name="Google Shape;364;p12"/>
          <p:cNvSpPr/>
          <p:nvPr/>
        </p:nvSpPr>
        <p:spPr>
          <a:xfrm>
            <a:off x="4983480" y="3593416"/>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F(2,54)=29.21</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η²=.520</a:t>
            </a:r>
            <a:endParaRPr b="0" i="0" sz="950" u="none" cap="none" strike="noStrike">
              <a:solidFill>
                <a:schemeClr val="dk1"/>
              </a:solidFill>
              <a:latin typeface="Calibri"/>
              <a:ea typeface="Calibri"/>
              <a:cs typeface="Calibri"/>
              <a:sym typeface="Calibri"/>
            </a:endParaRPr>
          </a:p>
        </p:txBody>
      </p:sp>
      <p:sp>
        <p:nvSpPr>
          <p:cNvPr id="365" name="Google Shape;365;p12"/>
          <p:cNvSpPr/>
          <p:nvPr/>
        </p:nvSpPr>
        <p:spPr>
          <a:xfrm>
            <a:off x="6400800" y="3593416"/>
            <a:ext cx="16458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950"/>
              <a:buFont typeface="Arial"/>
              <a:buNone/>
            </a:pPr>
            <a:r>
              <a:rPr b="1" i="0" lang="en-US" sz="950" u="none" cap="none" strike="noStrike">
                <a:solidFill>
                  <a:srgbClr val="22C55E"/>
                </a:solidFill>
                <a:latin typeface="Arial"/>
                <a:ea typeface="Arial"/>
                <a:cs typeface="Arial"/>
                <a:sym typeface="Arial"/>
              </a:rPr>
              <a:t>F(2,54)=79.17</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EDDA8"/>
              </a:buClr>
              <a:buSzPts val="850"/>
              <a:buFont typeface="Arial"/>
              <a:buNone/>
            </a:pPr>
            <a:r>
              <a:rPr b="0" i="0" lang="en-US" sz="850" u="none" cap="none" strike="noStrike">
                <a:solidFill>
                  <a:srgbClr val="7EDDA8"/>
                </a:solidFill>
                <a:latin typeface="Arial"/>
                <a:ea typeface="Arial"/>
                <a:cs typeface="Arial"/>
                <a:sym typeface="Arial"/>
              </a:rPr>
              <a:t>p&lt;.001, η²=.746</a:t>
            </a:r>
            <a:endParaRPr b="0" i="0" sz="950" u="none" cap="none" strike="noStrike">
              <a:solidFill>
                <a:schemeClr val="dk1"/>
              </a:solidFill>
              <a:latin typeface="Calibri"/>
              <a:ea typeface="Calibri"/>
              <a:cs typeface="Calibri"/>
              <a:sym typeface="Calibri"/>
            </a:endParaRPr>
          </a:p>
        </p:txBody>
      </p:sp>
      <p:sp>
        <p:nvSpPr>
          <p:cNvPr id="366" name="Google Shape;366;p12"/>
          <p:cNvSpPr/>
          <p:nvPr/>
        </p:nvSpPr>
        <p:spPr>
          <a:xfrm>
            <a:off x="411480" y="4114624"/>
            <a:ext cx="8321100" cy="567000"/>
          </a:xfrm>
          <a:prstGeom prst="rect">
            <a:avLst/>
          </a:prstGeom>
          <a:solidFill>
            <a:srgbClr val="141928"/>
          </a:solidFill>
          <a:ln cap="flat" cmpd="sng" w="12700">
            <a:solidFill>
              <a:srgbClr val="1E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2"/>
          <p:cNvSpPr/>
          <p:nvPr/>
        </p:nvSpPr>
        <p:spPr>
          <a:xfrm>
            <a:off x="457200" y="4160344"/>
            <a:ext cx="1600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950"/>
              <a:buFont typeface="Arial"/>
              <a:buNone/>
            </a:pPr>
            <a:r>
              <a:rPr b="1" i="0" lang="en-US" sz="950" u="none" cap="none" strike="noStrike">
                <a:solidFill>
                  <a:schemeClr val="lt1"/>
                </a:solidFill>
                <a:latin typeface="Arial"/>
                <a:ea typeface="Arial"/>
                <a:cs typeface="Arial"/>
                <a:sym typeface="Arial"/>
              </a:rPr>
              <a:t>Seat × Reach</a:t>
            </a:r>
            <a:endParaRPr b="0" i="0" sz="950" u="none" cap="none" strike="noStrike">
              <a:solidFill>
                <a:schemeClr val="lt1"/>
              </a:solidFill>
              <a:latin typeface="Calibri"/>
              <a:ea typeface="Calibri"/>
              <a:cs typeface="Calibri"/>
              <a:sym typeface="Calibri"/>
            </a:endParaRPr>
          </a:p>
          <a:p>
            <a:pPr indent="0" lvl="0" marL="0" marR="0" rtl="0" algn="l">
              <a:spcBef>
                <a:spcPts val="0"/>
              </a:spcBef>
              <a:spcAft>
                <a:spcPts val="0"/>
              </a:spcAft>
              <a:buClr>
                <a:srgbClr val="8A94A6"/>
              </a:buClr>
              <a:buSzPts val="950"/>
              <a:buFont typeface="Arial"/>
              <a:buNone/>
            </a:pPr>
            <a:r>
              <a:rPr b="1" i="0" lang="en-US" sz="950" u="none" cap="none" strike="noStrike">
                <a:solidFill>
                  <a:schemeClr val="lt1"/>
                </a:solidFill>
                <a:latin typeface="Arial"/>
                <a:ea typeface="Arial"/>
                <a:cs typeface="Arial"/>
                <a:sym typeface="Arial"/>
              </a:rPr>
              <a:t>(Interaction)</a:t>
            </a:r>
            <a:endParaRPr b="0" i="0" sz="950" u="none" cap="none" strike="noStrike">
              <a:solidFill>
                <a:schemeClr val="lt1"/>
              </a:solidFill>
              <a:latin typeface="Calibri"/>
              <a:ea typeface="Calibri"/>
              <a:cs typeface="Calibri"/>
              <a:sym typeface="Calibri"/>
            </a:endParaRPr>
          </a:p>
        </p:txBody>
      </p:sp>
      <p:sp>
        <p:nvSpPr>
          <p:cNvPr id="368" name="Google Shape;368;p12"/>
          <p:cNvSpPr/>
          <p:nvPr/>
        </p:nvSpPr>
        <p:spPr>
          <a:xfrm>
            <a:off x="2148840" y="4160344"/>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Arial"/>
              <a:buNone/>
            </a:pPr>
            <a:r>
              <a:rPr b="1" i="0" lang="en-US" sz="950" u="none" cap="none" strike="noStrike">
                <a:solidFill>
                  <a:schemeClr val="lt1"/>
                </a:solidFill>
                <a:latin typeface="Arial"/>
                <a:ea typeface="Arial"/>
                <a:cs typeface="Arial"/>
                <a:sym typeface="Arial"/>
              </a:rPr>
              <a:t>F(4,54)=0.35</a:t>
            </a:r>
            <a:endParaRPr b="0" i="0" sz="950" u="none" cap="none" strike="noStrike">
              <a:solidFill>
                <a:schemeClr val="lt1"/>
              </a:solidFill>
              <a:latin typeface="Calibri"/>
              <a:ea typeface="Calibri"/>
              <a:cs typeface="Calibri"/>
              <a:sym typeface="Calibri"/>
            </a:endParaRPr>
          </a:p>
          <a:p>
            <a:pPr indent="0" lvl="0" marL="0" marR="0" rtl="0" algn="ctr">
              <a:spcBef>
                <a:spcPts val="0"/>
              </a:spcBef>
              <a:spcAft>
                <a:spcPts val="0"/>
              </a:spcAft>
              <a:buClr>
                <a:srgbClr val="555E72"/>
              </a:buClr>
              <a:buSzPts val="850"/>
              <a:buFont typeface="Arial"/>
              <a:buNone/>
            </a:pPr>
            <a:r>
              <a:rPr b="0" i="0" lang="en-US" sz="850" u="none" cap="none" strike="noStrike">
                <a:solidFill>
                  <a:schemeClr val="lt1"/>
                </a:solidFill>
                <a:latin typeface="Arial"/>
                <a:ea typeface="Arial"/>
                <a:cs typeface="Arial"/>
                <a:sym typeface="Arial"/>
              </a:rPr>
              <a:t>p=.841  ns</a:t>
            </a:r>
            <a:endParaRPr b="0" i="0" sz="950" u="none" cap="none" strike="noStrike">
              <a:solidFill>
                <a:schemeClr val="lt1"/>
              </a:solidFill>
              <a:latin typeface="Calibri"/>
              <a:ea typeface="Calibri"/>
              <a:cs typeface="Calibri"/>
              <a:sym typeface="Calibri"/>
            </a:endParaRPr>
          </a:p>
        </p:txBody>
      </p:sp>
      <p:sp>
        <p:nvSpPr>
          <p:cNvPr id="369" name="Google Shape;369;p12"/>
          <p:cNvSpPr/>
          <p:nvPr/>
        </p:nvSpPr>
        <p:spPr>
          <a:xfrm>
            <a:off x="3566160" y="4160344"/>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Arial"/>
              <a:buNone/>
            </a:pPr>
            <a:r>
              <a:rPr b="1" i="0" lang="en-US" sz="950" u="none" cap="none" strike="noStrike">
                <a:solidFill>
                  <a:schemeClr val="lt1"/>
                </a:solidFill>
                <a:latin typeface="Arial"/>
                <a:ea typeface="Arial"/>
                <a:cs typeface="Arial"/>
                <a:sym typeface="Arial"/>
              </a:rPr>
              <a:t>F(4,54)=1.29</a:t>
            </a:r>
            <a:endParaRPr b="0" i="0" sz="950" u="none" cap="none" strike="noStrike">
              <a:solidFill>
                <a:schemeClr val="lt1"/>
              </a:solidFill>
              <a:latin typeface="Calibri"/>
              <a:ea typeface="Calibri"/>
              <a:cs typeface="Calibri"/>
              <a:sym typeface="Calibri"/>
            </a:endParaRPr>
          </a:p>
          <a:p>
            <a:pPr indent="0" lvl="0" marL="0" marR="0" rtl="0" algn="ctr">
              <a:spcBef>
                <a:spcPts val="0"/>
              </a:spcBef>
              <a:spcAft>
                <a:spcPts val="0"/>
              </a:spcAft>
              <a:buClr>
                <a:srgbClr val="555E72"/>
              </a:buClr>
              <a:buSzPts val="850"/>
              <a:buFont typeface="Arial"/>
              <a:buNone/>
            </a:pPr>
            <a:r>
              <a:rPr b="0" i="0" lang="en-US" sz="850" u="none" cap="none" strike="noStrike">
                <a:solidFill>
                  <a:schemeClr val="lt1"/>
                </a:solidFill>
                <a:latin typeface="Arial"/>
                <a:ea typeface="Arial"/>
                <a:cs typeface="Arial"/>
                <a:sym typeface="Arial"/>
              </a:rPr>
              <a:t>p=.286  ns</a:t>
            </a:r>
            <a:endParaRPr b="0" i="0" sz="950" u="none" cap="none" strike="noStrike">
              <a:solidFill>
                <a:schemeClr val="lt1"/>
              </a:solidFill>
              <a:latin typeface="Calibri"/>
              <a:ea typeface="Calibri"/>
              <a:cs typeface="Calibri"/>
              <a:sym typeface="Calibri"/>
            </a:endParaRPr>
          </a:p>
        </p:txBody>
      </p:sp>
      <p:sp>
        <p:nvSpPr>
          <p:cNvPr id="370" name="Google Shape;370;p12"/>
          <p:cNvSpPr/>
          <p:nvPr/>
        </p:nvSpPr>
        <p:spPr>
          <a:xfrm>
            <a:off x="4983480" y="4160344"/>
            <a:ext cx="13260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Arial"/>
              <a:buNone/>
            </a:pPr>
            <a:r>
              <a:rPr b="1" i="0" lang="en-US" sz="950" u="none" cap="none" strike="noStrike">
                <a:solidFill>
                  <a:schemeClr val="lt1"/>
                </a:solidFill>
                <a:latin typeface="Arial"/>
                <a:ea typeface="Arial"/>
                <a:cs typeface="Arial"/>
                <a:sym typeface="Arial"/>
              </a:rPr>
              <a:t>F(4,54)=0.47</a:t>
            </a:r>
            <a:endParaRPr b="0" i="0" sz="950" u="none" cap="none" strike="noStrike">
              <a:solidFill>
                <a:schemeClr val="lt1"/>
              </a:solidFill>
              <a:latin typeface="Calibri"/>
              <a:ea typeface="Calibri"/>
              <a:cs typeface="Calibri"/>
              <a:sym typeface="Calibri"/>
            </a:endParaRPr>
          </a:p>
          <a:p>
            <a:pPr indent="0" lvl="0" marL="0" marR="0" rtl="0" algn="ctr">
              <a:spcBef>
                <a:spcPts val="0"/>
              </a:spcBef>
              <a:spcAft>
                <a:spcPts val="0"/>
              </a:spcAft>
              <a:buClr>
                <a:srgbClr val="555E72"/>
              </a:buClr>
              <a:buSzPts val="850"/>
              <a:buFont typeface="Arial"/>
              <a:buNone/>
            </a:pPr>
            <a:r>
              <a:rPr b="0" i="0" lang="en-US" sz="850" u="none" cap="none" strike="noStrike">
                <a:solidFill>
                  <a:schemeClr val="lt1"/>
                </a:solidFill>
                <a:latin typeface="Arial"/>
                <a:ea typeface="Arial"/>
                <a:cs typeface="Arial"/>
                <a:sym typeface="Arial"/>
              </a:rPr>
              <a:t>p=.760  ns</a:t>
            </a:r>
            <a:endParaRPr b="0" i="0" sz="950" u="none" cap="none" strike="noStrike">
              <a:solidFill>
                <a:schemeClr val="lt1"/>
              </a:solidFill>
              <a:latin typeface="Calibri"/>
              <a:ea typeface="Calibri"/>
              <a:cs typeface="Calibri"/>
              <a:sym typeface="Calibri"/>
            </a:endParaRPr>
          </a:p>
        </p:txBody>
      </p:sp>
      <p:sp>
        <p:nvSpPr>
          <p:cNvPr id="371" name="Google Shape;371;p12"/>
          <p:cNvSpPr/>
          <p:nvPr/>
        </p:nvSpPr>
        <p:spPr>
          <a:xfrm>
            <a:off x="6400800" y="4160344"/>
            <a:ext cx="16458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Arial"/>
              <a:buNone/>
            </a:pPr>
            <a:r>
              <a:rPr b="1" i="0" lang="en-US" sz="950" u="none" cap="none" strike="noStrike">
                <a:solidFill>
                  <a:schemeClr val="lt1"/>
                </a:solidFill>
                <a:latin typeface="Arial"/>
                <a:ea typeface="Arial"/>
                <a:cs typeface="Arial"/>
                <a:sym typeface="Arial"/>
              </a:rPr>
              <a:t>F(4,54)=0.69</a:t>
            </a:r>
            <a:endParaRPr b="0" i="0" sz="950" u="none" cap="none" strike="noStrike">
              <a:solidFill>
                <a:schemeClr val="lt1"/>
              </a:solidFill>
              <a:latin typeface="Calibri"/>
              <a:ea typeface="Calibri"/>
              <a:cs typeface="Calibri"/>
              <a:sym typeface="Calibri"/>
            </a:endParaRPr>
          </a:p>
          <a:p>
            <a:pPr indent="0" lvl="0" marL="0" marR="0" rtl="0" algn="ctr">
              <a:spcBef>
                <a:spcPts val="0"/>
              </a:spcBef>
              <a:spcAft>
                <a:spcPts val="0"/>
              </a:spcAft>
              <a:buClr>
                <a:srgbClr val="555E72"/>
              </a:buClr>
              <a:buSzPts val="850"/>
              <a:buFont typeface="Arial"/>
              <a:buNone/>
            </a:pPr>
            <a:r>
              <a:rPr b="0" i="0" lang="en-US" sz="850" u="none" cap="none" strike="noStrike">
                <a:solidFill>
                  <a:schemeClr val="lt1"/>
                </a:solidFill>
                <a:latin typeface="Arial"/>
                <a:ea typeface="Arial"/>
                <a:cs typeface="Arial"/>
                <a:sym typeface="Arial"/>
              </a:rPr>
              <a:t>p=.601  ns</a:t>
            </a:r>
            <a:endParaRPr b="0" i="0" sz="950" u="none" cap="none" strike="noStrike">
              <a:solidFill>
                <a:schemeClr val="lt1"/>
              </a:solidFill>
              <a:latin typeface="Calibri"/>
              <a:ea typeface="Calibri"/>
              <a:cs typeface="Calibri"/>
              <a:sym typeface="Calibri"/>
            </a:endParaRPr>
          </a:p>
        </p:txBody>
      </p:sp>
      <p:sp>
        <p:nvSpPr>
          <p:cNvPr id="372" name="Google Shape;372;p12"/>
          <p:cNvSpPr/>
          <p:nvPr/>
        </p:nvSpPr>
        <p:spPr>
          <a:xfrm>
            <a:off x="411480" y="4846320"/>
            <a:ext cx="8321040" cy="256032"/>
          </a:xfrm>
          <a:prstGeom prst="rect">
            <a:avLst/>
          </a:prstGeom>
          <a:solidFill>
            <a:srgbClr val="0B1B0F"/>
          </a:solidFill>
          <a:ln cap="flat" cmpd="sng" w="12700">
            <a:solidFill>
              <a:srgbClr val="1A4A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502945" y="4654018"/>
            <a:ext cx="8138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C55E"/>
              </a:buClr>
              <a:buSzPts val="1000"/>
              <a:buFont typeface="Arial"/>
              <a:buNone/>
            </a:pPr>
            <a:r>
              <a:rPr b="1" i="0" lang="en-US" sz="1000" u="none" cap="none" strike="noStrike">
                <a:solidFill>
                  <a:srgbClr val="22C55E"/>
                </a:solidFill>
                <a:latin typeface="Arial"/>
                <a:ea typeface="Arial"/>
                <a:cs typeface="Arial"/>
                <a:sym typeface="Arial"/>
              </a:rPr>
              <a:t>✓ H1 Supported</a:t>
            </a:r>
            <a:r>
              <a:rPr b="0" i="0" lang="en-US" sz="1000" u="none" cap="none" strike="noStrike">
                <a:solidFill>
                  <a:srgbClr val="444F60"/>
                </a:solidFill>
                <a:latin typeface="Arial"/>
                <a:ea typeface="Arial"/>
                <a:cs typeface="Arial"/>
                <a:sym typeface="Arial"/>
              </a:rPr>
              <a:t>   |   </a:t>
            </a:r>
            <a:r>
              <a:rPr b="1" i="0" lang="en-US" sz="1000" u="none" cap="none" strike="noStrike">
                <a:solidFill>
                  <a:srgbClr val="22C55E"/>
                </a:solidFill>
                <a:latin typeface="Arial"/>
                <a:ea typeface="Arial"/>
                <a:cs typeface="Arial"/>
                <a:sym typeface="Arial"/>
              </a:rPr>
              <a:t>✓ H2 Supported</a:t>
            </a:r>
            <a:r>
              <a:rPr b="0" i="0" lang="en-US" sz="1000" u="none" cap="none" strike="noStrike">
                <a:solidFill>
                  <a:srgbClr val="444F60"/>
                </a:solidFill>
                <a:latin typeface="Arial"/>
                <a:ea typeface="Arial"/>
                <a:cs typeface="Arial"/>
                <a:sym typeface="Arial"/>
              </a:rPr>
              <a:t>   |   </a:t>
            </a:r>
            <a:r>
              <a:rPr b="1" i="0" lang="en-US" sz="1000" u="none" cap="none" strike="noStrike">
                <a:solidFill>
                  <a:srgbClr val="F97316"/>
                </a:solidFill>
                <a:latin typeface="Arial"/>
                <a:ea typeface="Arial"/>
                <a:cs typeface="Arial"/>
                <a:sym typeface="Arial"/>
              </a:rPr>
              <a:t>✗ H3 Not Supported</a:t>
            </a:r>
            <a:r>
              <a:rPr b="0" i="0" lang="en-US" sz="1000" u="none" cap="none" strike="noStrike">
                <a:solidFill>
                  <a:srgbClr val="8A94A6"/>
                </a:solidFill>
                <a:latin typeface="Arial"/>
                <a:ea typeface="Arial"/>
                <a:cs typeface="Arial"/>
                <a:sym typeface="Arial"/>
              </a:rPr>
              <a:t> — IVs act independently (no interaction effect)</a:t>
            </a:r>
            <a:endParaRPr b="0" i="0" sz="1000" u="none" cap="none" strike="noStrike">
              <a:solidFill>
                <a:schemeClr val="dk1"/>
              </a:solidFill>
              <a:latin typeface="Calibri"/>
              <a:ea typeface="Calibri"/>
              <a:cs typeface="Calibri"/>
              <a:sym typeface="Calibri"/>
            </a:endParaRPr>
          </a:p>
        </p:txBody>
      </p:sp>
      <p:sp>
        <p:nvSpPr>
          <p:cNvPr id="374" name="Google Shape;374;p12"/>
          <p:cNvSpPr/>
          <p:nvPr/>
        </p:nvSpPr>
        <p:spPr>
          <a:xfrm>
            <a:off x="0" y="4873752"/>
            <a:ext cx="9144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375" name="Google Shape;375;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380" name="Shape 380"/>
        <p:cNvGrpSpPr/>
        <p:nvPr/>
      </p:nvGrpSpPr>
      <p:grpSpPr>
        <a:xfrm>
          <a:off x="0" y="0"/>
          <a:ext cx="0" cy="0"/>
          <a:chOff x="0" y="0"/>
          <a:chExt cx="0" cy="0"/>
        </a:xfrm>
      </p:grpSpPr>
      <p:sp>
        <p:nvSpPr>
          <p:cNvPr id="381" name="Google Shape;381;p13"/>
          <p:cNvSpPr/>
          <p:nvPr/>
        </p:nvSpPr>
        <p:spPr>
          <a:xfrm>
            <a:off x="411480" y="228600"/>
            <a:ext cx="54900" cy="237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3"/>
          <p:cNvSpPr/>
          <p:nvPr/>
        </p:nvSpPr>
        <p:spPr>
          <a:xfrm>
            <a:off x="557784" y="228600"/>
            <a:ext cx="2743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RESULTS</a:t>
            </a:r>
            <a:endParaRPr b="0" i="0" sz="900" u="none" cap="none" strike="noStrike">
              <a:solidFill>
                <a:schemeClr val="dk1"/>
              </a:solidFill>
              <a:latin typeface="Calibri"/>
              <a:ea typeface="Calibri"/>
              <a:cs typeface="Calibri"/>
              <a:sym typeface="Calibri"/>
            </a:endParaRPr>
          </a:p>
        </p:txBody>
      </p:sp>
      <p:sp>
        <p:nvSpPr>
          <p:cNvPr id="383" name="Google Shape;383;p13"/>
          <p:cNvSpPr/>
          <p:nvPr/>
        </p:nvSpPr>
        <p:spPr>
          <a:xfrm>
            <a:off x="411455" y="392692"/>
            <a:ext cx="83211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Survey </a:t>
            </a:r>
            <a:r>
              <a:rPr b="1" lang="en-US" sz="3400">
                <a:solidFill>
                  <a:srgbClr val="FFFFFF"/>
                </a:solidFill>
                <a:latin typeface="Arial Black"/>
                <a:ea typeface="Arial Black"/>
                <a:cs typeface="Arial Black"/>
                <a:sym typeface="Arial Black"/>
              </a:rPr>
              <a:t>– </a:t>
            </a:r>
            <a:r>
              <a:rPr b="1" lang="en-US" sz="3400">
                <a:solidFill>
                  <a:srgbClr val="FFFFFF"/>
                </a:solidFill>
                <a:latin typeface="Arial Black"/>
                <a:ea typeface="Arial Black"/>
                <a:cs typeface="Arial Black"/>
                <a:sym typeface="Arial Black"/>
              </a:rPr>
              <a:t>Qualitative</a:t>
            </a:r>
            <a:r>
              <a:rPr b="1" lang="en-US" sz="3400">
                <a:solidFill>
                  <a:srgbClr val="FFFFFF"/>
                </a:solidFill>
                <a:latin typeface="Arial Black"/>
                <a:ea typeface="Arial Black"/>
                <a:cs typeface="Arial Black"/>
                <a:sym typeface="Arial Black"/>
              </a:rPr>
              <a:t> Analysis </a:t>
            </a:r>
            <a:endParaRPr b="0" i="0" sz="3400" u="none" cap="none" strike="noStrike">
              <a:solidFill>
                <a:schemeClr val="dk1"/>
              </a:solidFill>
              <a:latin typeface="Calibri"/>
              <a:ea typeface="Calibri"/>
              <a:cs typeface="Calibri"/>
              <a:sym typeface="Calibri"/>
            </a:endParaRPr>
          </a:p>
        </p:txBody>
      </p:sp>
      <p:sp>
        <p:nvSpPr>
          <p:cNvPr id="384" name="Google Shape;384;p13"/>
          <p:cNvSpPr/>
          <p:nvPr/>
        </p:nvSpPr>
        <p:spPr>
          <a:xfrm>
            <a:off x="411455" y="1023905"/>
            <a:ext cx="8321100" cy="273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txBox="1"/>
          <p:nvPr/>
        </p:nvSpPr>
        <p:spPr>
          <a:xfrm>
            <a:off x="362775" y="1093800"/>
            <a:ext cx="8672700" cy="5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rPr>
              <a:t>67 </a:t>
            </a:r>
            <a:r>
              <a:rPr lang="en-US">
                <a:solidFill>
                  <a:schemeClr val="lt1"/>
                </a:solidFill>
              </a:rPr>
              <a:t>participants,</a:t>
            </a:r>
            <a:r>
              <a:rPr lang="en-US">
                <a:solidFill>
                  <a:schemeClr val="lt1"/>
                </a:solidFill>
              </a:rPr>
              <a:t> 62 of which were in the range of ages 18-25 (median 21). Users were asked a series of questions to help </a:t>
            </a:r>
            <a:r>
              <a:rPr lang="en-US">
                <a:solidFill>
                  <a:schemeClr val="lt1"/>
                </a:solidFill>
              </a:rPr>
              <a:t>supplement</a:t>
            </a:r>
            <a:r>
              <a:rPr lang="en-US">
                <a:solidFill>
                  <a:schemeClr val="lt1"/>
                </a:solidFill>
              </a:rPr>
              <a:t> out data and add to our understanding of our experiment. </a:t>
            </a:r>
            <a:endParaRPr>
              <a:solidFill>
                <a:schemeClr val="lt1"/>
              </a:solidFill>
            </a:endParaRPr>
          </a:p>
        </p:txBody>
      </p:sp>
      <p:sp>
        <p:nvSpPr>
          <p:cNvPr id="386" name="Google Shape;386;p13"/>
          <p:cNvSpPr/>
          <p:nvPr/>
        </p:nvSpPr>
        <p:spPr>
          <a:xfrm>
            <a:off x="462325" y="1732800"/>
            <a:ext cx="3943200" cy="990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7" name="Google Shape;387;p13"/>
          <p:cNvPicPr preferRelativeResize="0"/>
          <p:nvPr/>
        </p:nvPicPr>
        <p:blipFill rotWithShape="1">
          <a:blip r:embed="rId3">
            <a:alphaModFix/>
          </a:blip>
          <a:srcRect b="13726" l="0" r="2894" t="8947"/>
          <a:stretch/>
        </p:blipFill>
        <p:spPr>
          <a:xfrm>
            <a:off x="501475" y="1776476"/>
            <a:ext cx="3864900" cy="894475"/>
          </a:xfrm>
          <a:prstGeom prst="rect">
            <a:avLst/>
          </a:prstGeom>
          <a:noFill/>
          <a:ln>
            <a:noFill/>
          </a:ln>
        </p:spPr>
      </p:pic>
      <p:sp>
        <p:nvSpPr>
          <p:cNvPr id="388" name="Google Shape;388;p13"/>
          <p:cNvSpPr/>
          <p:nvPr/>
        </p:nvSpPr>
        <p:spPr>
          <a:xfrm>
            <a:off x="462325" y="3960425"/>
            <a:ext cx="3943200" cy="990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13"/>
          <p:cNvSpPr/>
          <p:nvPr/>
        </p:nvSpPr>
        <p:spPr>
          <a:xfrm>
            <a:off x="462325" y="2846613"/>
            <a:ext cx="3943200" cy="990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0" name="Google Shape;390;p13"/>
          <p:cNvPicPr preferRelativeResize="0"/>
          <p:nvPr/>
        </p:nvPicPr>
        <p:blipFill rotWithShape="1">
          <a:blip r:embed="rId4">
            <a:alphaModFix/>
          </a:blip>
          <a:srcRect b="0" l="0" r="-756" t="0"/>
          <a:stretch/>
        </p:blipFill>
        <p:spPr>
          <a:xfrm>
            <a:off x="521050" y="2894375"/>
            <a:ext cx="3864900" cy="894475"/>
          </a:xfrm>
          <a:prstGeom prst="rect">
            <a:avLst/>
          </a:prstGeom>
          <a:noFill/>
          <a:ln>
            <a:noFill/>
          </a:ln>
        </p:spPr>
      </p:pic>
      <p:sp>
        <p:nvSpPr>
          <p:cNvPr id="391" name="Google Shape;391;p13"/>
          <p:cNvSpPr/>
          <p:nvPr/>
        </p:nvSpPr>
        <p:spPr>
          <a:xfrm>
            <a:off x="4816775" y="1732800"/>
            <a:ext cx="3864900" cy="32307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2" name="Google Shape;392;p13"/>
          <p:cNvPicPr preferRelativeResize="0"/>
          <p:nvPr/>
        </p:nvPicPr>
        <p:blipFill>
          <a:blip r:embed="rId5">
            <a:alphaModFix/>
          </a:blip>
          <a:stretch>
            <a:fillRect/>
          </a:stretch>
        </p:blipFill>
        <p:spPr>
          <a:xfrm>
            <a:off x="4882425" y="1790525"/>
            <a:ext cx="3733600" cy="3115225"/>
          </a:xfrm>
          <a:prstGeom prst="rect">
            <a:avLst/>
          </a:prstGeom>
          <a:noFill/>
          <a:ln>
            <a:noFill/>
          </a:ln>
        </p:spPr>
      </p:pic>
      <p:pic>
        <p:nvPicPr>
          <p:cNvPr id="393" name="Google Shape;393;p13"/>
          <p:cNvPicPr preferRelativeResize="0"/>
          <p:nvPr/>
        </p:nvPicPr>
        <p:blipFill>
          <a:blip r:embed="rId6">
            <a:alphaModFix/>
          </a:blip>
          <a:stretch>
            <a:fillRect/>
          </a:stretch>
        </p:blipFill>
        <p:spPr>
          <a:xfrm>
            <a:off x="501475" y="4012300"/>
            <a:ext cx="3864899" cy="894475"/>
          </a:xfrm>
          <a:prstGeom prst="rect">
            <a:avLst/>
          </a:prstGeom>
          <a:noFill/>
          <a:ln>
            <a:noFill/>
          </a:ln>
        </p:spPr>
      </p:pic>
      <p:sp>
        <p:nvSpPr>
          <p:cNvPr id="394" name="Google Shape;394;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399" name="Shape 399"/>
        <p:cNvGrpSpPr/>
        <p:nvPr/>
      </p:nvGrpSpPr>
      <p:grpSpPr>
        <a:xfrm>
          <a:off x="0" y="0"/>
          <a:ext cx="0" cy="0"/>
          <a:chOff x="0" y="0"/>
          <a:chExt cx="0" cy="0"/>
        </a:xfrm>
      </p:grpSpPr>
      <p:sp>
        <p:nvSpPr>
          <p:cNvPr id="400" name="Google Shape;400;p14"/>
          <p:cNvSpPr/>
          <p:nvPr/>
        </p:nvSpPr>
        <p:spPr>
          <a:xfrm>
            <a:off x="411480" y="228600"/>
            <a:ext cx="54900" cy="237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4"/>
          <p:cNvSpPr/>
          <p:nvPr/>
        </p:nvSpPr>
        <p:spPr>
          <a:xfrm>
            <a:off x="557784" y="228600"/>
            <a:ext cx="2743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RESULTS</a:t>
            </a:r>
            <a:endParaRPr b="0" i="0" sz="900" u="none" cap="none" strike="noStrike">
              <a:solidFill>
                <a:schemeClr val="dk1"/>
              </a:solidFill>
              <a:latin typeface="Calibri"/>
              <a:ea typeface="Calibri"/>
              <a:cs typeface="Calibri"/>
              <a:sym typeface="Calibri"/>
            </a:endParaRPr>
          </a:p>
        </p:txBody>
      </p:sp>
      <p:sp>
        <p:nvSpPr>
          <p:cNvPr id="402" name="Google Shape;402;p14"/>
          <p:cNvSpPr/>
          <p:nvPr/>
        </p:nvSpPr>
        <p:spPr>
          <a:xfrm>
            <a:off x="411455" y="419992"/>
            <a:ext cx="83211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Survey Results — Real World Data</a:t>
            </a:r>
            <a:endParaRPr b="0" i="0" sz="3400" u="none" cap="none" strike="noStrike">
              <a:solidFill>
                <a:schemeClr val="dk1"/>
              </a:solidFill>
              <a:latin typeface="Calibri"/>
              <a:ea typeface="Calibri"/>
              <a:cs typeface="Calibri"/>
              <a:sym typeface="Calibri"/>
            </a:endParaRPr>
          </a:p>
        </p:txBody>
      </p:sp>
      <p:sp>
        <p:nvSpPr>
          <p:cNvPr id="403" name="Google Shape;403;p14"/>
          <p:cNvSpPr/>
          <p:nvPr/>
        </p:nvSpPr>
        <p:spPr>
          <a:xfrm>
            <a:off x="397930" y="1051205"/>
            <a:ext cx="8321100" cy="273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p:nvPr/>
        </p:nvSpPr>
        <p:spPr>
          <a:xfrm>
            <a:off x="342900" y="4015200"/>
            <a:ext cx="4114800" cy="9162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4"/>
          <p:cNvSpPr/>
          <p:nvPr/>
        </p:nvSpPr>
        <p:spPr>
          <a:xfrm>
            <a:off x="342901" y="4015300"/>
            <a:ext cx="54900" cy="9162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4"/>
          <p:cNvSpPr/>
          <p:nvPr/>
        </p:nvSpPr>
        <p:spPr>
          <a:xfrm>
            <a:off x="557767" y="4074695"/>
            <a:ext cx="37491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200"/>
              <a:buFont typeface="Arial"/>
              <a:buNone/>
            </a:pPr>
            <a:r>
              <a:rPr b="1" i="0" lang="en-US" sz="1200" u="none" cap="none" strike="noStrike">
                <a:solidFill>
                  <a:srgbClr val="1A6EBD"/>
                </a:solidFill>
                <a:latin typeface="Arial"/>
                <a:ea typeface="Arial"/>
                <a:cs typeface="Arial"/>
                <a:sym typeface="Arial"/>
              </a:rPr>
              <a:t>Tiredness vs. Control Accessibility</a:t>
            </a:r>
            <a:endParaRPr b="0" i="0" sz="1200" u="none" cap="none" strike="noStrike">
              <a:solidFill>
                <a:schemeClr val="dk1"/>
              </a:solidFill>
              <a:latin typeface="Calibri"/>
              <a:ea typeface="Calibri"/>
              <a:cs typeface="Calibri"/>
              <a:sym typeface="Calibri"/>
            </a:endParaRPr>
          </a:p>
        </p:txBody>
      </p:sp>
      <p:sp>
        <p:nvSpPr>
          <p:cNvPr id="407" name="Google Shape;407;p14"/>
          <p:cNvSpPr/>
          <p:nvPr/>
        </p:nvSpPr>
        <p:spPr>
          <a:xfrm>
            <a:off x="553217" y="4309480"/>
            <a:ext cx="13716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3200"/>
              <a:buFont typeface="Arial"/>
              <a:buNone/>
            </a:pPr>
            <a:r>
              <a:rPr b="1" i="0" lang="en-US" sz="3200" u="none" cap="none" strike="noStrike">
                <a:solidFill>
                  <a:srgbClr val="1A6EBD"/>
                </a:solidFill>
                <a:latin typeface="Arial"/>
                <a:ea typeface="Arial"/>
                <a:cs typeface="Arial"/>
                <a:sym typeface="Arial"/>
              </a:rPr>
              <a:t>38.8%</a:t>
            </a:r>
            <a:endParaRPr b="0" i="0" sz="3200" u="none" cap="none" strike="noStrike">
              <a:solidFill>
                <a:schemeClr val="dk1"/>
              </a:solidFill>
              <a:latin typeface="Calibri"/>
              <a:ea typeface="Calibri"/>
              <a:cs typeface="Calibri"/>
              <a:sym typeface="Calibri"/>
            </a:endParaRPr>
          </a:p>
        </p:txBody>
      </p:sp>
      <p:sp>
        <p:nvSpPr>
          <p:cNvPr id="408" name="Google Shape;408;p14"/>
          <p:cNvSpPr/>
          <p:nvPr/>
        </p:nvSpPr>
        <p:spPr>
          <a:xfrm>
            <a:off x="4713775" y="4015350"/>
            <a:ext cx="4114800" cy="9162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4686300" y="4015200"/>
            <a:ext cx="54900" cy="9162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4896617" y="4074695"/>
            <a:ext cx="37491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200"/>
              <a:buFont typeface="Arial"/>
              <a:buNone/>
            </a:pPr>
            <a:r>
              <a:rPr b="1" i="0" lang="en-US" sz="1200" u="none" cap="none" strike="noStrike">
                <a:solidFill>
                  <a:srgbClr val="E8600A"/>
                </a:solidFill>
                <a:latin typeface="Arial"/>
                <a:ea typeface="Arial"/>
                <a:cs typeface="Arial"/>
                <a:sym typeface="Arial"/>
              </a:rPr>
              <a:t>Discomfort vs. Seat Stability</a:t>
            </a:r>
            <a:endParaRPr b="0" i="0" sz="1200" u="none" cap="none" strike="noStrike">
              <a:solidFill>
                <a:schemeClr val="dk1"/>
              </a:solidFill>
              <a:latin typeface="Calibri"/>
              <a:ea typeface="Calibri"/>
              <a:cs typeface="Calibri"/>
              <a:sym typeface="Calibri"/>
            </a:endParaRPr>
          </a:p>
        </p:txBody>
      </p:sp>
      <p:sp>
        <p:nvSpPr>
          <p:cNvPr id="411" name="Google Shape;411;p14"/>
          <p:cNvSpPr/>
          <p:nvPr/>
        </p:nvSpPr>
        <p:spPr>
          <a:xfrm>
            <a:off x="4896617" y="4309480"/>
            <a:ext cx="13716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3200"/>
              <a:buFont typeface="Arial"/>
              <a:buNone/>
            </a:pPr>
            <a:r>
              <a:rPr b="1" i="0" lang="en-US" sz="3200" u="none" cap="none" strike="noStrike">
                <a:solidFill>
                  <a:srgbClr val="E8600A"/>
                </a:solidFill>
                <a:latin typeface="Arial"/>
                <a:ea typeface="Arial"/>
                <a:cs typeface="Arial"/>
                <a:sym typeface="Arial"/>
              </a:rPr>
              <a:t>56.7%</a:t>
            </a:r>
            <a:endParaRPr b="0" i="0" sz="3200" u="none" cap="none" strike="noStrike">
              <a:solidFill>
                <a:schemeClr val="dk1"/>
              </a:solidFill>
              <a:latin typeface="Calibri"/>
              <a:ea typeface="Calibri"/>
              <a:cs typeface="Calibri"/>
              <a:sym typeface="Calibri"/>
            </a:endParaRPr>
          </a:p>
        </p:txBody>
      </p:sp>
      <p:pic>
        <p:nvPicPr>
          <p:cNvPr id="412" name="Google Shape;412;p14"/>
          <p:cNvPicPr preferRelativeResize="0"/>
          <p:nvPr/>
        </p:nvPicPr>
        <p:blipFill>
          <a:blip r:embed="rId3">
            <a:alphaModFix/>
          </a:blip>
          <a:stretch>
            <a:fillRect/>
          </a:stretch>
        </p:blipFill>
        <p:spPr>
          <a:xfrm>
            <a:off x="4985950" y="1184100"/>
            <a:ext cx="3570450" cy="2754350"/>
          </a:xfrm>
          <a:prstGeom prst="rect">
            <a:avLst/>
          </a:prstGeom>
          <a:noFill/>
          <a:ln>
            <a:noFill/>
          </a:ln>
        </p:spPr>
      </p:pic>
      <p:pic>
        <p:nvPicPr>
          <p:cNvPr id="413" name="Google Shape;413;p14"/>
          <p:cNvPicPr preferRelativeResize="0"/>
          <p:nvPr/>
        </p:nvPicPr>
        <p:blipFill>
          <a:blip r:embed="rId4">
            <a:alphaModFix/>
          </a:blip>
          <a:stretch>
            <a:fillRect/>
          </a:stretch>
        </p:blipFill>
        <p:spPr>
          <a:xfrm>
            <a:off x="647100" y="1169674"/>
            <a:ext cx="3570444" cy="2754362"/>
          </a:xfrm>
          <a:prstGeom prst="rect">
            <a:avLst/>
          </a:prstGeom>
          <a:noFill/>
          <a:ln>
            <a:noFill/>
          </a:ln>
        </p:spPr>
      </p:pic>
      <p:sp>
        <p:nvSpPr>
          <p:cNvPr id="414" name="Google Shape;414;p14"/>
          <p:cNvSpPr/>
          <p:nvPr/>
        </p:nvSpPr>
        <p:spPr>
          <a:xfrm>
            <a:off x="1714500" y="4394800"/>
            <a:ext cx="2743200" cy="5028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Char char="●"/>
            </a:pPr>
            <a:r>
              <a:rPr lang="en-US" sz="1100">
                <a:solidFill>
                  <a:schemeClr val="lt1"/>
                </a:solidFill>
              </a:rPr>
              <a:t>59.70% (40/67), &lt; 5 Tiredness</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rPr>
              <a:t>65% (26/40), also &gt; 5 Accessibility</a:t>
            </a:r>
            <a:endParaRPr sz="1100">
              <a:solidFill>
                <a:schemeClr val="lt1"/>
              </a:solidFill>
            </a:endParaRPr>
          </a:p>
        </p:txBody>
      </p:sp>
      <p:sp>
        <p:nvSpPr>
          <p:cNvPr id="415" name="Google Shape;415;p14"/>
          <p:cNvSpPr/>
          <p:nvPr/>
        </p:nvSpPr>
        <p:spPr>
          <a:xfrm>
            <a:off x="5989375" y="4360775"/>
            <a:ext cx="2743200" cy="5028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Char char="●"/>
            </a:pPr>
            <a:r>
              <a:rPr lang="en-US" sz="1100">
                <a:solidFill>
                  <a:schemeClr val="lt1"/>
                </a:solidFill>
              </a:rPr>
              <a:t>62.69% (42/67), &lt; 5 Discomfort</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rPr>
              <a:t>90.48% (38/42), also &gt; 5 Stability</a:t>
            </a:r>
            <a:endParaRPr sz="1100">
              <a:solidFill>
                <a:schemeClr val="lt1"/>
              </a:solidFill>
            </a:endParaRPr>
          </a:p>
        </p:txBody>
      </p:sp>
      <p:sp>
        <p:nvSpPr>
          <p:cNvPr id="416" name="Google Shape;416;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421" name="Shape 421"/>
        <p:cNvGrpSpPr/>
        <p:nvPr/>
      </p:nvGrpSpPr>
      <p:grpSpPr>
        <a:xfrm>
          <a:off x="0" y="0"/>
          <a:ext cx="0" cy="0"/>
          <a:chOff x="0" y="0"/>
          <a:chExt cx="0" cy="0"/>
        </a:xfrm>
      </p:grpSpPr>
      <p:sp>
        <p:nvSpPr>
          <p:cNvPr id="422" name="Google Shape;422;p15"/>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DISCUSSION</a:t>
            </a:r>
            <a:endParaRPr b="0" i="0" sz="900" u="none" cap="none" strike="noStrike">
              <a:solidFill>
                <a:schemeClr val="dk1"/>
              </a:solidFill>
              <a:latin typeface="Calibri"/>
              <a:ea typeface="Calibri"/>
              <a:cs typeface="Calibri"/>
              <a:sym typeface="Calibri"/>
            </a:endParaRPr>
          </a:p>
        </p:txBody>
      </p:sp>
      <p:sp>
        <p:nvSpPr>
          <p:cNvPr id="424" name="Google Shape;424;p15"/>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What the Data Tells Us</a:t>
            </a:r>
            <a:endParaRPr b="0" i="0" sz="3400" u="none" cap="none" strike="noStrike">
              <a:solidFill>
                <a:schemeClr val="dk1"/>
              </a:solidFill>
              <a:latin typeface="Calibri"/>
              <a:ea typeface="Calibri"/>
              <a:cs typeface="Calibri"/>
              <a:sym typeface="Calibri"/>
            </a:endParaRPr>
          </a:p>
        </p:txBody>
      </p:sp>
      <p:sp>
        <p:nvSpPr>
          <p:cNvPr id="425" name="Google Shape;425;p15"/>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427" name="Google Shape;427;p15"/>
          <p:cNvSpPr/>
          <p:nvPr/>
        </p:nvSpPr>
        <p:spPr>
          <a:xfrm>
            <a:off x="411475" y="1481325"/>
            <a:ext cx="8321100" cy="9417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411471" y="1481323"/>
            <a:ext cx="91500" cy="941700"/>
          </a:xfrm>
          <a:prstGeom prst="rect">
            <a:avLst/>
          </a:prstGeom>
          <a:solidFill>
            <a:srgbClr val="18A558"/>
          </a:solidFill>
          <a:ln cap="flat" cmpd="sng" w="12700">
            <a:solidFill>
              <a:srgbClr val="18A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621776" y="1701025"/>
            <a:ext cx="2102700" cy="47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A558"/>
              </a:buClr>
              <a:buSzPts val="1100"/>
              <a:buFont typeface="Arial"/>
              <a:buNone/>
            </a:pPr>
            <a:r>
              <a:rPr b="1" lang="en-US">
                <a:solidFill>
                  <a:srgbClr val="18A558"/>
                </a:solidFill>
              </a:rPr>
              <a:t>Optimal Configuration Wins Across All Metrics </a:t>
            </a:r>
            <a:endParaRPr b="0" i="0" u="none" cap="none" strike="noStrike">
              <a:solidFill>
                <a:schemeClr val="dk1"/>
              </a:solidFill>
              <a:latin typeface="Calibri"/>
              <a:ea typeface="Calibri"/>
              <a:cs typeface="Calibri"/>
              <a:sym typeface="Calibri"/>
            </a:endParaRPr>
          </a:p>
        </p:txBody>
      </p:sp>
      <p:sp>
        <p:nvSpPr>
          <p:cNvPr id="430" name="Google Shape;430;p15"/>
          <p:cNvSpPr/>
          <p:nvPr/>
        </p:nvSpPr>
        <p:spPr>
          <a:xfrm>
            <a:off x="2724500" y="1517100"/>
            <a:ext cx="5961300" cy="8415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chemeClr val="lt1"/>
              </a:buClr>
              <a:buSzPts val="1400"/>
              <a:buFont typeface="Calibri"/>
              <a:buChar char="●"/>
            </a:pPr>
            <a:r>
              <a:rPr lang="en-US">
                <a:solidFill>
                  <a:schemeClr val="lt1"/>
                </a:solidFill>
                <a:latin typeface="Calibri"/>
                <a:ea typeface="Calibri"/>
                <a:cs typeface="Calibri"/>
                <a:sym typeface="Calibri"/>
              </a:rPr>
              <a:t>Best seat + reach = fastest times, fewest errors, lowest workload, least discomfort </a:t>
            </a:r>
            <a:endParaRPr>
              <a:solidFill>
                <a:schemeClr val="lt1"/>
              </a:solidFill>
              <a:latin typeface="Calibri"/>
              <a:ea typeface="Calibri"/>
              <a:cs typeface="Calibri"/>
              <a:sym typeface="Calibri"/>
            </a:endParaRPr>
          </a:p>
          <a:p>
            <a:pPr indent="-317500" lvl="0" marL="457200" marR="0" rtl="0" algn="l">
              <a:spcBef>
                <a:spcPts val="0"/>
              </a:spcBef>
              <a:spcAft>
                <a:spcPts val="0"/>
              </a:spcAft>
              <a:buClr>
                <a:schemeClr val="lt1"/>
              </a:buClr>
              <a:buSzPts val="1400"/>
              <a:buFont typeface="Calibri"/>
              <a:buChar char="●"/>
            </a:pPr>
            <a:r>
              <a:rPr lang="en-US">
                <a:solidFill>
                  <a:schemeClr val="lt1"/>
                </a:solidFill>
                <a:latin typeface="Calibri"/>
                <a:ea typeface="Calibri"/>
                <a:cs typeface="Calibri"/>
                <a:sym typeface="Calibri"/>
              </a:rPr>
              <a:t>Worst outcomes: undersized seat + close reach condition </a:t>
            </a:r>
            <a:endParaRPr>
              <a:solidFill>
                <a:schemeClr val="lt1"/>
              </a:solidFill>
              <a:latin typeface="Calibri"/>
              <a:ea typeface="Calibri"/>
              <a:cs typeface="Calibri"/>
              <a:sym typeface="Calibri"/>
            </a:endParaRPr>
          </a:p>
        </p:txBody>
      </p:sp>
      <p:sp>
        <p:nvSpPr>
          <p:cNvPr id="431" name="Google Shape;431;p15"/>
          <p:cNvSpPr/>
          <p:nvPr/>
        </p:nvSpPr>
        <p:spPr>
          <a:xfrm>
            <a:off x="411475" y="2595554"/>
            <a:ext cx="8321100" cy="9417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411520" y="2595550"/>
            <a:ext cx="91500" cy="941700"/>
          </a:xfrm>
          <a:prstGeom prst="rect">
            <a:avLst/>
          </a:prstGeom>
          <a:solidFill>
            <a:srgbClr val="8A8A8A"/>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621777" y="2815250"/>
            <a:ext cx="1938000" cy="47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100"/>
              <a:buFont typeface="Arial"/>
              <a:buNone/>
            </a:pPr>
            <a:r>
              <a:rPr b="1" lang="en-US">
                <a:solidFill>
                  <a:schemeClr val="lt1"/>
                </a:solidFill>
              </a:rPr>
              <a:t>Small Deviations, Big Consequences </a:t>
            </a:r>
            <a:endParaRPr b="0" i="0" u="none" cap="none" strike="noStrike">
              <a:solidFill>
                <a:schemeClr val="lt1"/>
              </a:solidFill>
              <a:latin typeface="Calibri"/>
              <a:ea typeface="Calibri"/>
              <a:cs typeface="Calibri"/>
              <a:sym typeface="Calibri"/>
            </a:endParaRPr>
          </a:p>
        </p:txBody>
      </p:sp>
      <p:sp>
        <p:nvSpPr>
          <p:cNvPr id="434" name="Google Shape;434;p15"/>
          <p:cNvSpPr/>
          <p:nvPr/>
        </p:nvSpPr>
        <p:spPr>
          <a:xfrm>
            <a:off x="2758550" y="2624198"/>
            <a:ext cx="5893200" cy="6585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chemeClr val="lt1"/>
              </a:buClr>
              <a:buSzPts val="1400"/>
              <a:buFont typeface="Calibri"/>
              <a:buChar char="●"/>
            </a:pPr>
            <a:r>
              <a:rPr lang="en-US">
                <a:solidFill>
                  <a:schemeClr val="lt1"/>
                </a:solidFill>
                <a:latin typeface="Calibri"/>
                <a:ea typeface="Calibri"/>
                <a:cs typeface="Calibri"/>
                <a:sym typeface="Calibri"/>
              </a:rPr>
              <a:t>Just 2-4 cm shifts caused significant performance drops </a:t>
            </a:r>
            <a:endParaRPr>
              <a:solidFill>
                <a:schemeClr val="lt1"/>
              </a:solidFill>
              <a:latin typeface="Calibri"/>
              <a:ea typeface="Calibri"/>
              <a:cs typeface="Calibri"/>
              <a:sym typeface="Calibri"/>
            </a:endParaRPr>
          </a:p>
          <a:p>
            <a:pPr indent="-317500" lvl="0" marL="457200" marR="0" rtl="0" algn="l">
              <a:spcBef>
                <a:spcPts val="0"/>
              </a:spcBef>
              <a:spcAft>
                <a:spcPts val="0"/>
              </a:spcAft>
              <a:buClr>
                <a:schemeClr val="lt1"/>
              </a:buClr>
              <a:buSzPts val="1400"/>
              <a:buFont typeface="Calibri"/>
              <a:buChar char="●"/>
            </a:pPr>
            <a:r>
              <a:rPr lang="en-US">
                <a:solidFill>
                  <a:schemeClr val="lt1"/>
                </a:solidFill>
                <a:latin typeface="Calibri"/>
                <a:ea typeface="Calibri"/>
                <a:cs typeface="Calibri"/>
                <a:sym typeface="Calibri"/>
              </a:rPr>
              <a:t>Forces compensatory muscle activation → slower, less coordinated responses </a:t>
            </a:r>
            <a:endParaRPr>
              <a:solidFill>
                <a:schemeClr val="lt1"/>
              </a:solidFill>
              <a:latin typeface="Calibri"/>
              <a:ea typeface="Calibri"/>
              <a:cs typeface="Calibri"/>
              <a:sym typeface="Calibri"/>
            </a:endParaRPr>
          </a:p>
        </p:txBody>
      </p:sp>
      <p:sp>
        <p:nvSpPr>
          <p:cNvPr id="435" name="Google Shape;435;p15"/>
          <p:cNvSpPr/>
          <p:nvPr/>
        </p:nvSpPr>
        <p:spPr>
          <a:xfrm>
            <a:off x="411475" y="3709782"/>
            <a:ext cx="8321100" cy="9417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p:nvPr/>
        </p:nvSpPr>
        <p:spPr>
          <a:xfrm flipH="1">
            <a:off x="411515" y="3734649"/>
            <a:ext cx="91500" cy="9417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621776" y="3929500"/>
            <a:ext cx="2044200" cy="47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lang="en-US">
                <a:solidFill>
                  <a:srgbClr val="E8600A"/>
                </a:solidFill>
              </a:rPr>
              <a:t>Independent but Additive Effects </a:t>
            </a:r>
            <a:endParaRPr b="0" i="0" u="none" cap="none" strike="noStrike">
              <a:solidFill>
                <a:schemeClr val="dk1"/>
              </a:solidFill>
              <a:latin typeface="Calibri"/>
              <a:ea typeface="Calibri"/>
              <a:cs typeface="Calibri"/>
              <a:sym typeface="Calibri"/>
            </a:endParaRPr>
          </a:p>
        </p:txBody>
      </p:sp>
      <p:sp>
        <p:nvSpPr>
          <p:cNvPr id="438" name="Google Shape;438;p15"/>
          <p:cNvSpPr/>
          <p:nvPr/>
        </p:nvSpPr>
        <p:spPr>
          <a:xfrm>
            <a:off x="2784725" y="3758275"/>
            <a:ext cx="5893200" cy="7815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chemeClr val="lt1"/>
              </a:buClr>
              <a:buSzPts val="1400"/>
              <a:buFont typeface="Calibri"/>
              <a:buChar char="●"/>
            </a:pPr>
            <a:r>
              <a:rPr lang="en-US">
                <a:solidFill>
                  <a:schemeClr val="lt1"/>
                </a:solidFill>
                <a:latin typeface="Calibri"/>
                <a:ea typeface="Calibri"/>
                <a:cs typeface="Calibri"/>
                <a:sym typeface="Calibri"/>
              </a:rPr>
              <a:t>Seat clearance and reach distance each improve performance on their own </a:t>
            </a:r>
            <a:endParaRPr>
              <a:solidFill>
                <a:schemeClr val="lt1"/>
              </a:solidFill>
              <a:latin typeface="Calibri"/>
              <a:ea typeface="Calibri"/>
              <a:cs typeface="Calibri"/>
              <a:sym typeface="Calibri"/>
            </a:endParaRPr>
          </a:p>
          <a:p>
            <a:pPr indent="-317500" lvl="0" marL="457200" marR="0" rtl="0" algn="l">
              <a:spcBef>
                <a:spcPts val="0"/>
              </a:spcBef>
              <a:spcAft>
                <a:spcPts val="0"/>
              </a:spcAft>
              <a:buClr>
                <a:schemeClr val="lt1"/>
              </a:buClr>
              <a:buSzPts val="1400"/>
              <a:buFont typeface="Calibri"/>
              <a:buChar char="●"/>
            </a:pPr>
            <a:r>
              <a:rPr lang="en-US">
                <a:solidFill>
                  <a:schemeClr val="lt1"/>
                </a:solidFill>
                <a:latin typeface="Calibri"/>
                <a:ea typeface="Calibri"/>
                <a:cs typeface="Calibri"/>
                <a:sym typeface="Calibri"/>
              </a:rPr>
              <a:t>Optimizing both together = highest performance outcomes </a:t>
            </a:r>
            <a:endParaRPr>
              <a:solidFill>
                <a:schemeClr val="lt1"/>
              </a:solidFill>
              <a:latin typeface="Calibri"/>
              <a:ea typeface="Calibri"/>
              <a:cs typeface="Calibri"/>
              <a:sym typeface="Calibri"/>
            </a:endParaRPr>
          </a:p>
        </p:txBody>
      </p:sp>
      <p:sp>
        <p:nvSpPr>
          <p:cNvPr id="439" name="Google Shape;439;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444" name="Shape 444"/>
        <p:cNvGrpSpPr/>
        <p:nvPr/>
      </p:nvGrpSpPr>
      <p:grpSpPr>
        <a:xfrm>
          <a:off x="0" y="0"/>
          <a:ext cx="0" cy="0"/>
          <a:chOff x="0" y="0"/>
          <a:chExt cx="0" cy="0"/>
        </a:xfrm>
      </p:grpSpPr>
      <p:sp>
        <p:nvSpPr>
          <p:cNvPr id="445" name="Google Shape;445;p16"/>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DISCUSSION</a:t>
            </a:r>
            <a:endParaRPr b="0" i="0" sz="900" u="none" cap="none" strike="noStrike">
              <a:solidFill>
                <a:schemeClr val="dk1"/>
              </a:solidFill>
              <a:latin typeface="Calibri"/>
              <a:ea typeface="Calibri"/>
              <a:cs typeface="Calibri"/>
              <a:sym typeface="Calibri"/>
            </a:endParaRPr>
          </a:p>
        </p:txBody>
      </p:sp>
      <p:sp>
        <p:nvSpPr>
          <p:cNvPr id="447" name="Google Shape;447;p16"/>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Limitations</a:t>
            </a:r>
            <a:endParaRPr b="0" i="0" sz="3400" u="none" cap="none" strike="noStrike">
              <a:solidFill>
                <a:schemeClr val="dk1"/>
              </a:solidFill>
              <a:latin typeface="Calibri"/>
              <a:ea typeface="Calibri"/>
              <a:cs typeface="Calibri"/>
              <a:sym typeface="Calibri"/>
            </a:endParaRPr>
          </a:p>
        </p:txBody>
      </p:sp>
      <p:sp>
        <p:nvSpPr>
          <p:cNvPr id="448" name="Google Shape;448;p16"/>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450" name="Google Shape;450;p16"/>
          <p:cNvSpPr/>
          <p:nvPr/>
        </p:nvSpPr>
        <p:spPr>
          <a:xfrm>
            <a:off x="405225" y="1652125"/>
            <a:ext cx="4114800" cy="13842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p:nvPr/>
        </p:nvSpPr>
        <p:spPr>
          <a:xfrm>
            <a:off x="405225" y="1652126"/>
            <a:ext cx="54900" cy="13842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606395" y="1731982"/>
            <a:ext cx="3749100" cy="24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100"/>
              <a:buFont typeface="Arial"/>
              <a:buNone/>
            </a:pPr>
            <a:r>
              <a:rPr b="1" lang="en-US" sz="1200">
                <a:solidFill>
                  <a:srgbClr val="E8600A"/>
                </a:solidFill>
              </a:rPr>
              <a:t>Narrow Sample Reduces Generalizability </a:t>
            </a:r>
            <a:endParaRPr b="0" i="0" sz="1200" u="none" cap="none" strike="noStrike">
              <a:solidFill>
                <a:schemeClr val="dk1"/>
              </a:solidFill>
              <a:latin typeface="Calibri"/>
              <a:ea typeface="Calibri"/>
              <a:cs typeface="Calibri"/>
              <a:sym typeface="Calibri"/>
            </a:endParaRPr>
          </a:p>
        </p:txBody>
      </p:sp>
      <p:sp>
        <p:nvSpPr>
          <p:cNvPr id="453" name="Google Shape;453;p16"/>
          <p:cNvSpPr/>
          <p:nvPr/>
        </p:nvSpPr>
        <p:spPr>
          <a:xfrm>
            <a:off x="606395" y="1992607"/>
            <a:ext cx="3842400" cy="621900"/>
          </a:xfrm>
          <a:prstGeom prst="rect">
            <a:avLst/>
          </a:prstGeom>
          <a:noFill/>
          <a:ln>
            <a:noFill/>
          </a:ln>
        </p:spPr>
        <p:txBody>
          <a:bodyPr anchorCtr="0" anchor="t" bIns="0" lIns="0" spcFirstLastPara="1" rIns="0" wrap="square" tIns="0">
            <a:noAutofit/>
          </a:bodyPr>
          <a:lstStyle/>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Male only, 40th–60th percentile </a:t>
            </a:r>
            <a:endParaRPr sz="1300">
              <a:solidFill>
                <a:schemeClr val="lt1"/>
              </a:solidFill>
              <a:latin typeface="Calibri"/>
              <a:ea typeface="Calibri"/>
              <a:cs typeface="Calibri"/>
              <a:sym typeface="Calibri"/>
            </a:endParaRPr>
          </a:p>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Excludes female drivers and broader body types </a:t>
            </a:r>
            <a:endParaRPr sz="1300">
              <a:solidFill>
                <a:schemeClr val="lt1"/>
              </a:solidFill>
              <a:latin typeface="Calibri"/>
              <a:ea typeface="Calibri"/>
              <a:cs typeface="Calibri"/>
              <a:sym typeface="Calibri"/>
            </a:endParaRPr>
          </a:p>
        </p:txBody>
      </p:sp>
      <p:sp>
        <p:nvSpPr>
          <p:cNvPr id="454" name="Google Shape;454;p16"/>
          <p:cNvSpPr/>
          <p:nvPr/>
        </p:nvSpPr>
        <p:spPr>
          <a:xfrm>
            <a:off x="392465" y="3280477"/>
            <a:ext cx="4114800" cy="13218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392465" y="3280477"/>
            <a:ext cx="54900" cy="13218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a:off x="593633" y="3410065"/>
            <a:ext cx="3749100" cy="38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6EBD"/>
              </a:buClr>
              <a:buSzPts val="1100"/>
              <a:buFont typeface="Arial"/>
              <a:buNone/>
            </a:pPr>
            <a:r>
              <a:rPr b="1" lang="en-US" sz="1200">
                <a:solidFill>
                  <a:srgbClr val="1A6EBD"/>
                </a:solidFill>
              </a:rPr>
              <a:t>Simulated Conditions and Unverified Survey Data</a:t>
            </a:r>
            <a:endParaRPr b="1" sz="1200">
              <a:solidFill>
                <a:srgbClr val="1A6EBD"/>
              </a:solidFill>
            </a:endParaRPr>
          </a:p>
          <a:p>
            <a:pPr indent="0" lvl="0" marL="0" marR="0" rtl="0" algn="l">
              <a:spcBef>
                <a:spcPts val="0"/>
              </a:spcBef>
              <a:spcAft>
                <a:spcPts val="0"/>
              </a:spcAft>
              <a:buClr>
                <a:srgbClr val="1A6EBD"/>
              </a:buClr>
              <a:buSzPts val="1100"/>
              <a:buFont typeface="Arial"/>
              <a:buNone/>
            </a:pPr>
            <a:r>
              <a:t/>
            </a:r>
            <a:endParaRPr b="1" sz="1100">
              <a:solidFill>
                <a:srgbClr val="1A6EBD"/>
              </a:solidFill>
            </a:endParaRPr>
          </a:p>
        </p:txBody>
      </p:sp>
      <p:sp>
        <p:nvSpPr>
          <p:cNvPr id="457" name="Google Shape;457;p16"/>
          <p:cNvSpPr/>
          <p:nvPr/>
        </p:nvSpPr>
        <p:spPr>
          <a:xfrm>
            <a:off x="606411" y="3592075"/>
            <a:ext cx="3842400" cy="621900"/>
          </a:xfrm>
          <a:prstGeom prst="rect">
            <a:avLst/>
          </a:prstGeom>
          <a:noFill/>
          <a:ln>
            <a:noFill/>
          </a:ln>
        </p:spPr>
        <p:txBody>
          <a:bodyPr anchorCtr="0" anchor="t" bIns="0" lIns="0" spcFirstLastPara="1" rIns="0" wrap="square" tIns="0">
            <a:noAutofit/>
          </a:bodyPr>
          <a:lstStyle/>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Simulator removes real-world pressure and vehicle variability </a:t>
            </a:r>
            <a:endParaRPr sz="1300">
              <a:solidFill>
                <a:schemeClr val="lt1"/>
              </a:solidFill>
              <a:latin typeface="Calibri"/>
              <a:ea typeface="Calibri"/>
              <a:cs typeface="Calibri"/>
              <a:sym typeface="Calibri"/>
            </a:endParaRPr>
          </a:p>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67-person survey is qualitative only, no statistical verification </a:t>
            </a:r>
            <a:endParaRPr sz="1300">
              <a:solidFill>
                <a:schemeClr val="lt1"/>
              </a:solidFill>
              <a:latin typeface="Calibri"/>
              <a:ea typeface="Calibri"/>
              <a:cs typeface="Calibri"/>
              <a:sym typeface="Calibri"/>
            </a:endParaRPr>
          </a:p>
        </p:txBody>
      </p:sp>
      <p:sp>
        <p:nvSpPr>
          <p:cNvPr id="458" name="Google Shape;458;p16"/>
          <p:cNvSpPr/>
          <p:nvPr/>
        </p:nvSpPr>
        <p:spPr>
          <a:xfrm>
            <a:off x="4683650" y="3291850"/>
            <a:ext cx="4114800" cy="13218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4683650" y="3291850"/>
            <a:ext cx="54900" cy="1321800"/>
          </a:xfrm>
          <a:prstGeom prst="rect">
            <a:avLst/>
          </a:prstGeom>
          <a:solidFill>
            <a:srgbClr val="F5832A"/>
          </a:solidFill>
          <a:ln cap="flat" cmpd="sng" w="12700">
            <a:solidFill>
              <a:srgbClr val="F58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4873127" y="3296724"/>
            <a:ext cx="3913500" cy="24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832A"/>
              </a:buClr>
              <a:buSzPts val="1100"/>
              <a:buFont typeface="Arial"/>
              <a:buNone/>
            </a:pPr>
            <a:r>
              <a:rPr b="1" lang="en-US" sz="1100">
                <a:solidFill>
                  <a:srgbClr val="F5832A"/>
                </a:solidFill>
              </a:rPr>
              <a:t>Between-Subjects Seat Factor Design Introduces Individual Variability</a:t>
            </a:r>
            <a:endParaRPr b="1" sz="1100">
              <a:solidFill>
                <a:srgbClr val="F5832A"/>
              </a:solidFill>
            </a:endParaRPr>
          </a:p>
          <a:p>
            <a:pPr indent="0" lvl="0" marL="0" marR="0" rtl="0" algn="l">
              <a:spcBef>
                <a:spcPts val="0"/>
              </a:spcBef>
              <a:spcAft>
                <a:spcPts val="0"/>
              </a:spcAft>
              <a:buClr>
                <a:srgbClr val="F5832A"/>
              </a:buClr>
              <a:buSzPts val="1100"/>
              <a:buFont typeface="Arial"/>
              <a:buNone/>
            </a:pPr>
            <a:r>
              <a:t/>
            </a:r>
            <a:endParaRPr b="1" sz="1100">
              <a:solidFill>
                <a:srgbClr val="F5832A"/>
              </a:solidFill>
            </a:endParaRPr>
          </a:p>
        </p:txBody>
      </p:sp>
      <p:sp>
        <p:nvSpPr>
          <p:cNvPr id="461" name="Google Shape;461;p16"/>
          <p:cNvSpPr/>
          <p:nvPr/>
        </p:nvSpPr>
        <p:spPr>
          <a:xfrm>
            <a:off x="4873120" y="3673421"/>
            <a:ext cx="3842400" cy="621900"/>
          </a:xfrm>
          <a:prstGeom prst="rect">
            <a:avLst/>
          </a:prstGeom>
          <a:noFill/>
          <a:ln>
            <a:noFill/>
          </a:ln>
        </p:spPr>
        <p:txBody>
          <a:bodyPr anchorCtr="0" anchor="t" bIns="0" lIns="0" spcFirstLastPara="1" rIns="0" wrap="square" tIns="0">
            <a:noAutofit/>
          </a:bodyPr>
          <a:lstStyle/>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Baseline driving skill and motor coordination not fully controlled </a:t>
            </a:r>
            <a:endParaRPr sz="1300">
              <a:solidFill>
                <a:schemeClr val="lt1"/>
              </a:solidFill>
              <a:latin typeface="Calibri"/>
              <a:ea typeface="Calibri"/>
              <a:cs typeface="Calibri"/>
              <a:sym typeface="Calibri"/>
            </a:endParaRPr>
          </a:p>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May have introduced unexplained variability in results </a:t>
            </a:r>
            <a:endParaRPr sz="1300">
              <a:solidFill>
                <a:schemeClr val="lt1"/>
              </a:solidFill>
              <a:latin typeface="Calibri"/>
              <a:ea typeface="Calibri"/>
              <a:cs typeface="Calibri"/>
              <a:sym typeface="Calibri"/>
            </a:endParaRPr>
          </a:p>
        </p:txBody>
      </p:sp>
      <p:sp>
        <p:nvSpPr>
          <p:cNvPr id="462" name="Google Shape;462;p16"/>
          <p:cNvSpPr/>
          <p:nvPr/>
        </p:nvSpPr>
        <p:spPr>
          <a:xfrm>
            <a:off x="4683650" y="1661675"/>
            <a:ext cx="4114800" cy="1374600"/>
          </a:xfrm>
          <a:prstGeom prst="rect">
            <a:avLst/>
          </a:prstGeom>
          <a:solidFill>
            <a:srgbClr val="1E1E1E"/>
          </a:solidFill>
          <a:ln cap="flat" cmpd="sng" w="12700">
            <a:solidFill>
              <a:srgbClr val="252525"/>
            </a:solidFill>
            <a:prstDash val="solid"/>
            <a:round/>
            <a:headEnd len="sm" w="sm" type="none"/>
            <a:tailEnd len="sm" w="sm" type="none"/>
          </a:ln>
          <a:effectLst>
            <a:outerShdw blurRad="127000" rotWithShape="0" algn="bl" dir="81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4683650" y="1661675"/>
            <a:ext cx="54900" cy="1374600"/>
          </a:xfrm>
          <a:prstGeom prst="rect">
            <a:avLst/>
          </a:prstGeom>
          <a:solidFill>
            <a:srgbClr val="2E90D6"/>
          </a:solidFill>
          <a:ln cap="flat" cmpd="sng" w="12700">
            <a:solidFill>
              <a:srgbClr val="2E9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4902170" y="1697611"/>
            <a:ext cx="3842400" cy="38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90D6"/>
              </a:buClr>
              <a:buSzPts val="1100"/>
              <a:buFont typeface="Arial"/>
              <a:buNone/>
            </a:pPr>
            <a:r>
              <a:rPr b="1" lang="en-US" sz="1200">
                <a:solidFill>
                  <a:srgbClr val="2E90D6"/>
                </a:solidFill>
              </a:rPr>
              <a:t>Qualitative Survey Lacks Objective Discomfort Measurement </a:t>
            </a:r>
            <a:endParaRPr b="0" i="0" sz="1200" u="none" cap="none" strike="noStrike">
              <a:solidFill>
                <a:schemeClr val="dk1"/>
              </a:solidFill>
              <a:latin typeface="Calibri"/>
              <a:ea typeface="Calibri"/>
              <a:cs typeface="Calibri"/>
              <a:sym typeface="Calibri"/>
            </a:endParaRPr>
          </a:p>
        </p:txBody>
      </p:sp>
      <p:sp>
        <p:nvSpPr>
          <p:cNvPr id="465" name="Google Shape;465;p16"/>
          <p:cNvSpPr/>
          <p:nvPr/>
        </p:nvSpPr>
        <p:spPr>
          <a:xfrm>
            <a:off x="4902170" y="2059851"/>
            <a:ext cx="3842400" cy="621900"/>
          </a:xfrm>
          <a:prstGeom prst="rect">
            <a:avLst/>
          </a:prstGeom>
          <a:noFill/>
          <a:ln>
            <a:noFill/>
          </a:ln>
        </p:spPr>
        <p:txBody>
          <a:bodyPr anchorCtr="0" anchor="t" bIns="0" lIns="0" spcFirstLastPara="1" rIns="0" wrap="square" tIns="0">
            <a:noAutofit/>
          </a:bodyPr>
          <a:lstStyle/>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Self-reported only,  no physiological or biomechanical validation </a:t>
            </a:r>
            <a:endParaRPr sz="1300">
              <a:solidFill>
                <a:schemeClr val="lt1"/>
              </a:solidFill>
              <a:latin typeface="Calibri"/>
              <a:ea typeface="Calibri"/>
              <a:cs typeface="Calibri"/>
              <a:sym typeface="Calibri"/>
            </a:endParaRPr>
          </a:p>
          <a:p>
            <a:pPr indent="-311150" lvl="0" marL="457200" marR="0" rtl="0" algn="l">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Perceived discomfort may not reflect actual physical strain </a:t>
            </a:r>
            <a:endParaRPr sz="1300">
              <a:solidFill>
                <a:schemeClr val="lt1"/>
              </a:solidFill>
              <a:latin typeface="Calibri"/>
              <a:ea typeface="Calibri"/>
              <a:cs typeface="Calibri"/>
              <a:sym typeface="Calibri"/>
            </a:endParaRPr>
          </a:p>
        </p:txBody>
      </p:sp>
      <p:sp>
        <p:nvSpPr>
          <p:cNvPr id="466" name="Google Shape;466;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471" name="Shape 471"/>
        <p:cNvGrpSpPr/>
        <p:nvPr/>
      </p:nvGrpSpPr>
      <p:grpSpPr>
        <a:xfrm>
          <a:off x="0" y="0"/>
          <a:ext cx="0" cy="0"/>
          <a:chOff x="0" y="0"/>
          <a:chExt cx="0" cy="0"/>
        </a:xfrm>
      </p:grpSpPr>
      <p:sp>
        <p:nvSpPr>
          <p:cNvPr id="472" name="Google Shape;472;p17"/>
          <p:cNvSpPr/>
          <p:nvPr/>
        </p:nvSpPr>
        <p:spPr>
          <a:xfrm>
            <a:off x="411480" y="228600"/>
            <a:ext cx="54864" cy="237744"/>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7"/>
          <p:cNvSpPr/>
          <p:nvPr/>
        </p:nvSpPr>
        <p:spPr>
          <a:xfrm>
            <a:off x="557784" y="2286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CONCLUSION</a:t>
            </a:r>
            <a:endParaRPr b="0" i="0" sz="900" u="none" cap="none" strike="noStrike">
              <a:solidFill>
                <a:schemeClr val="dk1"/>
              </a:solidFill>
              <a:latin typeface="Calibri"/>
              <a:ea typeface="Calibri"/>
              <a:cs typeface="Calibri"/>
              <a:sym typeface="Calibri"/>
            </a:endParaRPr>
          </a:p>
        </p:txBody>
      </p:sp>
      <p:sp>
        <p:nvSpPr>
          <p:cNvPr id="474" name="Google Shape;474;p17"/>
          <p:cNvSpPr/>
          <p:nvPr/>
        </p:nvSpPr>
        <p:spPr>
          <a:xfrm>
            <a:off x="411480" y="62179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i="0" lang="en-US" sz="3400" u="none" cap="none" strike="noStrike">
                <a:solidFill>
                  <a:srgbClr val="FFFFFF"/>
                </a:solidFill>
                <a:latin typeface="Arial Black"/>
                <a:ea typeface="Arial Black"/>
                <a:cs typeface="Arial Black"/>
                <a:sym typeface="Arial Black"/>
              </a:rPr>
              <a:t>Future Work</a:t>
            </a:r>
            <a:endParaRPr b="0" i="0" sz="3400" u="none" cap="none" strike="noStrike">
              <a:solidFill>
                <a:schemeClr val="dk1"/>
              </a:solidFill>
              <a:latin typeface="Calibri"/>
              <a:ea typeface="Calibri"/>
              <a:cs typeface="Calibri"/>
              <a:sym typeface="Calibri"/>
            </a:endParaRPr>
          </a:p>
        </p:txBody>
      </p:sp>
      <p:sp>
        <p:nvSpPr>
          <p:cNvPr id="475" name="Google Shape;475;p17"/>
          <p:cNvSpPr/>
          <p:nvPr/>
        </p:nvSpPr>
        <p:spPr>
          <a:xfrm>
            <a:off x="411480" y="1325880"/>
            <a:ext cx="8321040" cy="27432"/>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7"/>
          <p:cNvSpPr/>
          <p:nvPr/>
        </p:nvSpPr>
        <p:spPr>
          <a:xfrm>
            <a:off x="0" y="4873752"/>
            <a:ext cx="9144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477" name="Google Shape;477;p17"/>
          <p:cNvSpPr/>
          <p:nvPr/>
        </p:nvSpPr>
        <p:spPr>
          <a:xfrm>
            <a:off x="466349" y="1481325"/>
            <a:ext cx="48279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00A"/>
              </a:buClr>
              <a:buSzPts val="1300"/>
              <a:buFont typeface="Arial"/>
              <a:buNone/>
            </a:pPr>
            <a:r>
              <a:rPr b="1" i="0" lang="en-US" sz="1300" u="none" cap="none" strike="noStrike">
                <a:solidFill>
                  <a:srgbClr val="E8600A"/>
                </a:solidFill>
                <a:latin typeface="Arial"/>
                <a:ea typeface="Arial"/>
                <a:cs typeface="Arial"/>
                <a:sym typeface="Arial"/>
              </a:rPr>
              <a:t>Future Work</a:t>
            </a:r>
            <a:endParaRPr b="0" i="0" sz="1300" u="none" cap="none" strike="noStrike">
              <a:solidFill>
                <a:schemeClr val="dk1"/>
              </a:solidFill>
              <a:latin typeface="Calibri"/>
              <a:ea typeface="Calibri"/>
              <a:cs typeface="Calibri"/>
              <a:sym typeface="Calibri"/>
            </a:endParaRPr>
          </a:p>
        </p:txBody>
      </p:sp>
      <p:sp>
        <p:nvSpPr>
          <p:cNvPr id="478" name="Google Shape;478;p17"/>
          <p:cNvSpPr/>
          <p:nvPr/>
        </p:nvSpPr>
        <p:spPr>
          <a:xfrm>
            <a:off x="466349" y="1956817"/>
            <a:ext cx="1572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7"/>
          <p:cNvSpPr/>
          <p:nvPr/>
        </p:nvSpPr>
        <p:spPr>
          <a:xfrm>
            <a:off x="780734" y="1865376"/>
            <a:ext cx="4603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00"/>
              <a:buFont typeface="Arial"/>
              <a:buNone/>
            </a:pPr>
            <a:r>
              <a:rPr lang="en-US" sz="1200">
                <a:solidFill>
                  <a:srgbClr val="E8E8E8"/>
                </a:solidFill>
                <a:latin typeface="Calibri"/>
                <a:ea typeface="Calibri"/>
                <a:cs typeface="Calibri"/>
                <a:sym typeface="Calibri"/>
              </a:rPr>
              <a:t>Validate findings using real drivers in controlled testing</a:t>
            </a:r>
            <a:endParaRPr i="0" sz="1200" u="none" cap="none" strike="noStrike">
              <a:solidFill>
                <a:schemeClr val="dk1"/>
              </a:solidFill>
              <a:latin typeface="Calibri"/>
              <a:ea typeface="Calibri"/>
              <a:cs typeface="Calibri"/>
              <a:sym typeface="Calibri"/>
            </a:endParaRPr>
          </a:p>
        </p:txBody>
      </p:sp>
      <p:sp>
        <p:nvSpPr>
          <p:cNvPr id="480" name="Google Shape;480;p17"/>
          <p:cNvSpPr/>
          <p:nvPr/>
        </p:nvSpPr>
        <p:spPr>
          <a:xfrm>
            <a:off x="466349" y="2404876"/>
            <a:ext cx="1572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7"/>
          <p:cNvSpPr/>
          <p:nvPr/>
        </p:nvSpPr>
        <p:spPr>
          <a:xfrm>
            <a:off x="780734" y="2313436"/>
            <a:ext cx="4603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00"/>
              <a:buFont typeface="Arial"/>
              <a:buNone/>
            </a:pPr>
            <a:r>
              <a:rPr i="0" lang="en-US" sz="1200" u="none" cap="none" strike="noStrike">
                <a:solidFill>
                  <a:srgbClr val="E8E8E8"/>
                </a:solidFill>
                <a:latin typeface="Calibri"/>
                <a:ea typeface="Calibri"/>
                <a:cs typeface="Calibri"/>
                <a:sym typeface="Calibri"/>
              </a:rPr>
              <a:t>Include female drivers and broader anthropometric range</a:t>
            </a:r>
            <a:endParaRPr i="0" sz="1200" u="none" cap="none" strike="noStrike">
              <a:solidFill>
                <a:schemeClr val="dk1"/>
              </a:solidFill>
              <a:latin typeface="Calibri"/>
              <a:ea typeface="Calibri"/>
              <a:cs typeface="Calibri"/>
              <a:sym typeface="Calibri"/>
            </a:endParaRPr>
          </a:p>
        </p:txBody>
      </p:sp>
      <p:sp>
        <p:nvSpPr>
          <p:cNvPr id="482" name="Google Shape;482;p17"/>
          <p:cNvSpPr/>
          <p:nvPr/>
        </p:nvSpPr>
        <p:spPr>
          <a:xfrm>
            <a:off x="466349" y="2852936"/>
            <a:ext cx="1572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7"/>
          <p:cNvSpPr/>
          <p:nvPr/>
        </p:nvSpPr>
        <p:spPr>
          <a:xfrm>
            <a:off x="780734" y="2761495"/>
            <a:ext cx="4603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00"/>
              <a:buFont typeface="Arial"/>
              <a:buNone/>
            </a:pPr>
            <a:r>
              <a:rPr i="0" lang="en-US" sz="1200" u="none" cap="none" strike="noStrike">
                <a:solidFill>
                  <a:srgbClr val="E8E8E8"/>
                </a:solidFill>
                <a:latin typeface="Calibri"/>
                <a:ea typeface="Calibri"/>
                <a:cs typeface="Calibri"/>
                <a:sym typeface="Calibri"/>
              </a:rPr>
              <a:t>Add EMG to quantify muscle activation patterns</a:t>
            </a:r>
            <a:endParaRPr i="0" sz="1200" u="none" cap="none" strike="noStrike">
              <a:solidFill>
                <a:schemeClr val="dk1"/>
              </a:solidFill>
              <a:latin typeface="Calibri"/>
              <a:ea typeface="Calibri"/>
              <a:cs typeface="Calibri"/>
              <a:sym typeface="Calibri"/>
            </a:endParaRPr>
          </a:p>
        </p:txBody>
      </p:sp>
      <p:sp>
        <p:nvSpPr>
          <p:cNvPr id="484" name="Google Shape;484;p17"/>
          <p:cNvSpPr/>
          <p:nvPr/>
        </p:nvSpPr>
        <p:spPr>
          <a:xfrm>
            <a:off x="466349" y="3300995"/>
            <a:ext cx="1572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p:nvPr/>
        </p:nvSpPr>
        <p:spPr>
          <a:xfrm>
            <a:off x="780734" y="3209555"/>
            <a:ext cx="4603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00"/>
              <a:buFont typeface="Arial"/>
              <a:buNone/>
            </a:pPr>
            <a:r>
              <a:rPr i="0" lang="en-US" sz="1200" u="none" cap="none" strike="noStrike">
                <a:solidFill>
                  <a:srgbClr val="E8E8E8"/>
                </a:solidFill>
                <a:latin typeface="Calibri"/>
                <a:ea typeface="Calibri"/>
                <a:cs typeface="Calibri"/>
                <a:sym typeface="Calibri"/>
              </a:rPr>
              <a:t>Test larger ergonomic deviations (5th/95th percentile)</a:t>
            </a:r>
            <a:endParaRPr i="0" sz="1200" u="none" cap="none" strike="noStrike">
              <a:solidFill>
                <a:schemeClr val="dk1"/>
              </a:solidFill>
              <a:latin typeface="Calibri"/>
              <a:ea typeface="Calibri"/>
              <a:cs typeface="Calibri"/>
              <a:sym typeface="Calibri"/>
            </a:endParaRPr>
          </a:p>
        </p:txBody>
      </p:sp>
      <p:sp>
        <p:nvSpPr>
          <p:cNvPr id="486" name="Google Shape;486;p17"/>
          <p:cNvSpPr/>
          <p:nvPr/>
        </p:nvSpPr>
        <p:spPr>
          <a:xfrm>
            <a:off x="466349" y="3749055"/>
            <a:ext cx="1572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a:off x="780734" y="3657614"/>
            <a:ext cx="4603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00"/>
              <a:buFont typeface="Arial"/>
              <a:buNone/>
            </a:pPr>
            <a:r>
              <a:rPr i="0" lang="en-US" sz="1200" u="none" cap="none" strike="noStrike">
                <a:solidFill>
                  <a:srgbClr val="E8E8E8"/>
                </a:solidFill>
                <a:latin typeface="Calibri"/>
                <a:ea typeface="Calibri"/>
                <a:cs typeface="Calibri"/>
                <a:sym typeface="Calibri"/>
              </a:rPr>
              <a:t>Expand survey: larger sample, controlled settings, quantitative data</a:t>
            </a:r>
            <a:endParaRPr i="0" sz="1200" u="none" cap="none" strike="noStrike">
              <a:solidFill>
                <a:schemeClr val="dk1"/>
              </a:solidFill>
              <a:latin typeface="Calibri"/>
              <a:ea typeface="Calibri"/>
              <a:cs typeface="Calibri"/>
              <a:sym typeface="Calibri"/>
            </a:endParaRPr>
          </a:p>
        </p:txBody>
      </p:sp>
      <p:sp>
        <p:nvSpPr>
          <p:cNvPr id="488" name="Google Shape;488;p17"/>
          <p:cNvSpPr/>
          <p:nvPr/>
        </p:nvSpPr>
        <p:spPr>
          <a:xfrm>
            <a:off x="466349" y="4197114"/>
            <a:ext cx="157200" cy="36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780734" y="4105674"/>
            <a:ext cx="4603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8E8"/>
              </a:buClr>
              <a:buSzPts val="1100"/>
              <a:buFont typeface="Arial"/>
              <a:buNone/>
            </a:pPr>
            <a:r>
              <a:rPr i="0" lang="en-US" sz="1200" u="none" cap="none" strike="noStrike">
                <a:solidFill>
                  <a:schemeClr val="lt1"/>
                </a:solidFill>
                <a:latin typeface="Calibri"/>
                <a:ea typeface="Calibri"/>
                <a:cs typeface="Calibri"/>
                <a:sym typeface="Calibri"/>
              </a:rPr>
              <a:t>Explore adaptive cockpit systems responding to driver fatigue</a:t>
            </a:r>
            <a:endParaRPr i="0" sz="1200" u="none" cap="none" strike="noStrike">
              <a:solidFill>
                <a:schemeClr val="lt1"/>
              </a:solidFill>
              <a:latin typeface="Calibri"/>
              <a:ea typeface="Calibri"/>
              <a:cs typeface="Calibri"/>
              <a:sym typeface="Calibri"/>
            </a:endParaRPr>
          </a:p>
        </p:txBody>
      </p:sp>
      <p:sp>
        <p:nvSpPr>
          <p:cNvPr id="490" name="Google Shape;490;p17"/>
          <p:cNvSpPr/>
          <p:nvPr/>
        </p:nvSpPr>
        <p:spPr>
          <a:xfrm>
            <a:off x="0" y="4617720"/>
            <a:ext cx="9144000" cy="52578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a:off x="411480" y="4663440"/>
            <a:ext cx="83211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Black"/>
              <a:buNone/>
            </a:pPr>
            <a:r>
              <a:rPr b="1" lang="en-US">
                <a:solidFill>
                  <a:srgbClr val="FFFFFF"/>
                </a:solidFill>
                <a:latin typeface="Arial Black"/>
                <a:ea typeface="Arial Black"/>
                <a:cs typeface="Arial Black"/>
                <a:sym typeface="Arial Black"/>
              </a:rPr>
              <a:t>Ergonomic fit is not a comfort preference — it is a measurable driver performance variable.</a:t>
            </a:r>
            <a:endParaRPr b="0" i="0" sz="1400" u="none" cap="none" strike="noStrike">
              <a:solidFill>
                <a:schemeClr val="dk1"/>
              </a:solidFill>
              <a:latin typeface="Calibri"/>
              <a:ea typeface="Calibri"/>
              <a:cs typeface="Calibri"/>
              <a:sym typeface="Calibri"/>
            </a:endParaRPr>
          </a:p>
        </p:txBody>
      </p:sp>
      <p:sp>
        <p:nvSpPr>
          <p:cNvPr id="492" name="Google Shape;492;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pic>
        <p:nvPicPr>
          <p:cNvPr id="493" name="Google Shape;493;p17"/>
          <p:cNvPicPr preferRelativeResize="0"/>
          <p:nvPr/>
        </p:nvPicPr>
        <p:blipFill>
          <a:blip r:embed="rId3">
            <a:alphaModFix/>
          </a:blip>
          <a:stretch>
            <a:fillRect/>
          </a:stretch>
        </p:blipFill>
        <p:spPr>
          <a:xfrm>
            <a:off x="5101809" y="1627437"/>
            <a:ext cx="3454967" cy="24875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498" name="Shape 498"/>
        <p:cNvGrpSpPr/>
        <p:nvPr/>
      </p:nvGrpSpPr>
      <p:grpSpPr>
        <a:xfrm>
          <a:off x="0" y="0"/>
          <a:ext cx="0" cy="0"/>
          <a:chOff x="0" y="0"/>
          <a:chExt cx="0" cy="0"/>
        </a:xfrm>
      </p:grpSpPr>
      <p:sp>
        <p:nvSpPr>
          <p:cNvPr id="499" name="Google Shape;499;p18"/>
          <p:cNvSpPr/>
          <p:nvPr/>
        </p:nvSpPr>
        <p:spPr>
          <a:xfrm>
            <a:off x="411480" y="228600"/>
            <a:ext cx="54900" cy="237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8"/>
          <p:cNvSpPr/>
          <p:nvPr/>
        </p:nvSpPr>
        <p:spPr>
          <a:xfrm>
            <a:off x="557784" y="228600"/>
            <a:ext cx="2743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CONCLUSION</a:t>
            </a:r>
            <a:endParaRPr b="0" i="0" sz="900" u="none" cap="none" strike="noStrike">
              <a:solidFill>
                <a:schemeClr val="dk1"/>
              </a:solidFill>
              <a:latin typeface="Calibri"/>
              <a:ea typeface="Calibri"/>
              <a:cs typeface="Calibri"/>
              <a:sym typeface="Calibri"/>
            </a:endParaRPr>
          </a:p>
        </p:txBody>
      </p:sp>
      <p:sp>
        <p:nvSpPr>
          <p:cNvPr id="501" name="Google Shape;501;p18"/>
          <p:cNvSpPr/>
          <p:nvPr/>
        </p:nvSpPr>
        <p:spPr>
          <a:xfrm>
            <a:off x="411480" y="621792"/>
            <a:ext cx="8321100" cy="658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3400">
                <a:solidFill>
                  <a:srgbClr val="FFFFFF"/>
                </a:solidFill>
                <a:latin typeface="Arial Black"/>
                <a:ea typeface="Arial Black"/>
                <a:cs typeface="Arial Black"/>
                <a:sym typeface="Arial Black"/>
              </a:rPr>
              <a:t>References</a:t>
            </a:r>
            <a:endParaRPr b="1" sz="3400">
              <a:solidFill>
                <a:srgbClr val="FFFFFF"/>
              </a:solidFill>
              <a:latin typeface="Arial Black"/>
              <a:ea typeface="Arial Black"/>
              <a:cs typeface="Arial Black"/>
              <a:sym typeface="Arial Black"/>
            </a:endParaRPr>
          </a:p>
        </p:txBody>
      </p:sp>
      <p:sp>
        <p:nvSpPr>
          <p:cNvPr id="502" name="Google Shape;502;p18"/>
          <p:cNvSpPr/>
          <p:nvPr/>
        </p:nvSpPr>
        <p:spPr>
          <a:xfrm>
            <a:off x="411480" y="1325880"/>
            <a:ext cx="8321100" cy="273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8"/>
          <p:cNvSpPr/>
          <p:nvPr/>
        </p:nvSpPr>
        <p:spPr>
          <a:xfrm>
            <a:off x="0" y="4873752"/>
            <a:ext cx="9144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504" name="Google Shape;504;p18"/>
          <p:cNvSpPr txBox="1"/>
          <p:nvPr/>
        </p:nvSpPr>
        <p:spPr>
          <a:xfrm>
            <a:off x="461950" y="1383067"/>
            <a:ext cx="8321100" cy="30489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AutoNum type="arabicPeriod"/>
            </a:pPr>
            <a:r>
              <a:rPr lang="en-US" sz="1000">
                <a:solidFill>
                  <a:schemeClr val="lt1"/>
                </a:solidFill>
              </a:rPr>
              <a:t>Anthropic. (2025). Claude (AI language model). https://www.credo.ai/ai-vendor-directory/anthropic-claude</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Coyne, C. M. (2026, April 20). Car comfortability [Survey]. Google Forms. https://docs.google.com/forms/d/e/1FAIpQLSficDHPrR6rdvr-5j0m3BGEBwHGs1aTaTI7Hjoeu_xvb_Pg6Q/viewform?usp=headerhttps://docs.google.com/forms/d/e/1FAIpQLSficDHPrR6rdvr-5j0m3BGEBwHGs1aTaTI7Hjoeu_xvb_Pg6Q/viewform?usp=header</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Hart, S. G., &amp; Staveland, L. E. (1988). Development of NASA-TLX (Task Load Index): Results of empirical and theoretical research. Advances in Psychology, 52, 139–183.</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Lane Community College Academic Technology Center. (n.d.). Python. https://inside.lanecc.edu/atc/software/t/13310</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Mungai, G. (2025). Physiological conditioning in motorsports athletes: A systematic review [Master's thesis, Charles University, Faculty of Physical Education and Sport].</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Paquet, V., Joseph, C., &amp; D'Souza, C. (2012). Computer re-sampling for demographically representative user populations in anthropometry: A case of doorway and clear floor space widths. WORK: A Journal of Prevention, Assessment &amp; Rehabilitation, 41(S1), 4098–4101. https://doi.org/10.3233/wor-2012-0703-4098</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Pick, A. J., &amp; Cole, D. J. (2006). Dynamic properties of a driver's arms holding a steering wheel. Proceedings of the Institution of Mechanical Engineers, Part D: Journal of Automobile Engineering, 220(12), 1765–1775. https://doi.org/10.1243/09544070JAUTO273</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Rosalie, S. M., &amp; Rosalie, S. (2021). Customizing female racing drivers' seat fit can improve their performance. Journal of Expertise, 4(1), 56–79. https://www.journalofexpertise.org</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Satti, A. T., Kim, J., Yi, E., Cho, H.-Y., &amp; Cho, S. (2021). Microneedle array electrode-based wearable EMG system for detection of driver drowsiness through steering wheel grip. Sensors, 21(15), 5091. https://doi.org/10.3390/s21155091</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SnapLap. (n.d.). Catalunya circuit. https://www.snaplap.net/catalunya-circuit/</a:t>
            </a:r>
            <a:endParaRPr sz="1000">
              <a:solidFill>
                <a:schemeClr val="lt1"/>
              </a:solidFill>
            </a:endParaRPr>
          </a:p>
          <a:p>
            <a:pPr indent="-292100" lvl="0" marL="457200" rtl="0" algn="l">
              <a:spcBef>
                <a:spcPts val="0"/>
              </a:spcBef>
              <a:spcAft>
                <a:spcPts val="0"/>
              </a:spcAft>
              <a:buClr>
                <a:schemeClr val="lt1"/>
              </a:buClr>
              <a:buSzPts val="1000"/>
              <a:buAutoNum type="arabicPeriod"/>
            </a:pPr>
            <a:r>
              <a:rPr lang="en-US" sz="1000">
                <a:solidFill>
                  <a:schemeClr val="lt1"/>
                </a:solidFill>
              </a:rPr>
              <a:t>Tse, K. (2019). Measuring driving workload using NASA TLX. Apex Performance Engineering / Formula Delta Driver Science Blog. https://kktse.github.io/jekyll/update/2019/09/14/driver-workload-nasa-tlx-ota-smp.html</a:t>
            </a:r>
            <a:endParaRPr sz="1000">
              <a:solidFill>
                <a:schemeClr val="lt1"/>
              </a:solidFill>
            </a:endParaRPr>
          </a:p>
        </p:txBody>
      </p:sp>
      <p:sp>
        <p:nvSpPr>
          <p:cNvPr id="505" name="Google Shape;505;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510" name="Shape 510"/>
        <p:cNvGrpSpPr/>
        <p:nvPr/>
      </p:nvGrpSpPr>
      <p:grpSpPr>
        <a:xfrm>
          <a:off x="0" y="0"/>
          <a:ext cx="0" cy="0"/>
          <a:chOff x="0" y="0"/>
          <a:chExt cx="0" cy="0"/>
        </a:xfrm>
      </p:grpSpPr>
      <p:sp>
        <p:nvSpPr>
          <p:cNvPr id="511" name="Google Shape;511;p19"/>
          <p:cNvSpPr/>
          <p:nvPr/>
        </p:nvSpPr>
        <p:spPr>
          <a:xfrm>
            <a:off x="411480" y="228600"/>
            <a:ext cx="54900" cy="237600"/>
          </a:xfrm>
          <a:prstGeom prst="rect">
            <a:avLst/>
          </a:prstGeom>
          <a:solidFill>
            <a:srgbClr val="E8600A"/>
          </a:solidFill>
          <a:ln cap="flat" cmpd="sng" w="12700">
            <a:solidFill>
              <a:srgbClr val="E860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9"/>
          <p:cNvSpPr/>
          <p:nvPr/>
        </p:nvSpPr>
        <p:spPr>
          <a:xfrm>
            <a:off x="557784" y="228600"/>
            <a:ext cx="2743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0A"/>
              </a:buClr>
              <a:buSzPts val="900"/>
              <a:buFont typeface="Arial"/>
              <a:buNone/>
            </a:pPr>
            <a:r>
              <a:rPr b="1" i="0" lang="en-US" sz="900" u="none" cap="none" strike="noStrike">
                <a:solidFill>
                  <a:srgbClr val="E8600A"/>
                </a:solidFill>
                <a:latin typeface="Arial"/>
                <a:ea typeface="Arial"/>
                <a:cs typeface="Arial"/>
                <a:sym typeface="Arial"/>
              </a:rPr>
              <a:t>CONCLUSION</a:t>
            </a:r>
            <a:endParaRPr b="0" i="0" sz="900" u="none" cap="none" strike="noStrike">
              <a:solidFill>
                <a:schemeClr val="dk1"/>
              </a:solidFill>
              <a:latin typeface="Calibri"/>
              <a:ea typeface="Calibri"/>
              <a:cs typeface="Calibri"/>
              <a:sym typeface="Calibri"/>
            </a:endParaRPr>
          </a:p>
        </p:txBody>
      </p:sp>
      <p:sp>
        <p:nvSpPr>
          <p:cNvPr id="513" name="Google Shape;513;p19"/>
          <p:cNvSpPr/>
          <p:nvPr/>
        </p:nvSpPr>
        <p:spPr>
          <a:xfrm>
            <a:off x="411480" y="621792"/>
            <a:ext cx="83211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Black"/>
              <a:buNone/>
            </a:pPr>
            <a:r>
              <a:rPr b="1" lang="en-US" sz="3000">
                <a:solidFill>
                  <a:srgbClr val="FFFFFF"/>
                </a:solidFill>
                <a:latin typeface="Arial Black"/>
                <a:ea typeface="Arial Black"/>
                <a:cs typeface="Arial Black"/>
                <a:sym typeface="Arial Black"/>
              </a:rPr>
              <a:t>Appendix</a:t>
            </a:r>
            <a:r>
              <a:rPr b="1" lang="en-US" sz="3000">
                <a:solidFill>
                  <a:srgbClr val="FFFFFF"/>
                </a:solidFill>
                <a:latin typeface="Arial Black"/>
                <a:ea typeface="Arial Black"/>
                <a:cs typeface="Arial Black"/>
                <a:sym typeface="Arial Black"/>
              </a:rPr>
              <a:t> A - AI Data Simulation Prompt</a:t>
            </a:r>
            <a:endParaRPr b="0" i="0" sz="3000" u="none" cap="none" strike="noStrike">
              <a:solidFill>
                <a:schemeClr val="dk1"/>
              </a:solidFill>
              <a:latin typeface="Calibri"/>
              <a:ea typeface="Calibri"/>
              <a:cs typeface="Calibri"/>
              <a:sym typeface="Calibri"/>
            </a:endParaRPr>
          </a:p>
        </p:txBody>
      </p:sp>
      <p:sp>
        <p:nvSpPr>
          <p:cNvPr id="514" name="Google Shape;514;p19"/>
          <p:cNvSpPr/>
          <p:nvPr/>
        </p:nvSpPr>
        <p:spPr>
          <a:xfrm>
            <a:off x="411480" y="1325880"/>
            <a:ext cx="8321100" cy="27300"/>
          </a:xfrm>
          <a:prstGeom prst="rect">
            <a:avLst/>
          </a:prstGeom>
          <a:solidFill>
            <a:srgbClr val="1A6EBD"/>
          </a:solidFill>
          <a:ln cap="flat" cmpd="sng" w="12700">
            <a:solidFill>
              <a:srgbClr val="1A6E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9"/>
          <p:cNvSpPr/>
          <p:nvPr/>
        </p:nvSpPr>
        <p:spPr>
          <a:xfrm>
            <a:off x="0" y="4873752"/>
            <a:ext cx="9144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4"/>
              </a:buClr>
              <a:buSzPts val="800"/>
              <a:buFont typeface="Arial"/>
              <a:buNone/>
            </a:pPr>
            <a:r>
              <a:rPr b="0" i="0" lang="en-US" sz="800" u="none" cap="none" strike="noStrike">
                <a:solidFill>
                  <a:srgbClr val="444444"/>
                </a:solidFill>
                <a:latin typeface="Arial"/>
                <a:ea typeface="Arial"/>
                <a:cs typeface="Arial"/>
                <a:sym typeface="Arial"/>
              </a:rPr>
              <a:t>EIN3241 — Human Factors &amp; Ergonomics  ·  University of Florida  ·  Spring 2026</a:t>
            </a:r>
            <a:endParaRPr b="0" i="0" sz="800" u="none" cap="none" strike="noStrike">
              <a:solidFill>
                <a:schemeClr val="dk1"/>
              </a:solidFill>
              <a:latin typeface="Calibri"/>
              <a:ea typeface="Calibri"/>
              <a:cs typeface="Calibri"/>
              <a:sym typeface="Calibri"/>
            </a:endParaRPr>
          </a:p>
        </p:txBody>
      </p:sp>
      <p:sp>
        <p:nvSpPr>
          <p:cNvPr id="516" name="Google Shape;516;p19"/>
          <p:cNvSpPr txBox="1"/>
          <p:nvPr/>
        </p:nvSpPr>
        <p:spPr>
          <a:xfrm>
            <a:off x="461950" y="1258555"/>
            <a:ext cx="8321100" cy="30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900">
                <a:solidFill>
                  <a:schemeClr val="lt1"/>
                </a:solidFill>
              </a:rPr>
              <a:t>The following prompt was provided to Claude (Anthropic, 2025) to generate the simulated dataset used in this study:</a:t>
            </a:r>
            <a:endParaRPr sz="900">
              <a:solidFill>
                <a:schemeClr val="lt1"/>
              </a:solidFill>
            </a:endParaRPr>
          </a:p>
          <a:p>
            <a:pPr indent="0" lvl="0" marL="0" rtl="0" algn="l">
              <a:spcBef>
                <a:spcPts val="0"/>
              </a:spcBef>
              <a:spcAft>
                <a:spcPts val="0"/>
              </a:spcAft>
              <a:buClr>
                <a:schemeClr val="dk1"/>
              </a:buClr>
              <a:buSzPts val="1100"/>
              <a:buFont typeface="Arial"/>
              <a:buNone/>
            </a:pPr>
            <a:r>
              <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"I need you to simulate a dataset for a mixed-subjects 3x3 factorial Human Factors study examining the effect of seat clearance and steering wheel reach distance on race car driver performance, comfort, and perceived workload in an F1 simulator environment.</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Study parameters:</a:t>
            </a:r>
            <a:endParaRPr sz="900">
              <a:solidFill>
                <a:schemeClr val="lt1"/>
              </a:solidFill>
            </a:endParaRPr>
          </a:p>
          <a:p>
            <a:pPr indent="0" lvl="0" marL="0" rtl="0" algn="l">
              <a:spcBef>
                <a:spcPts val="0"/>
              </a:spcBef>
              <a:spcAft>
                <a:spcPts val="0"/>
              </a:spcAft>
              <a:buClr>
                <a:schemeClr val="dk1"/>
              </a:buClr>
              <a:buSzPts val="1100"/>
              <a:buFont typeface="Arial"/>
              <a:buNone/>
            </a:pPr>
            <a:r>
              <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30 male participants, ages 20–22, modeled within the 40th–60th percentile anthropometric range (173–180 cm, 70–84 kg)</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IV1 — Seat Clearance: 3 levels (Undersized: −2 cm, Optimal: +2 cm, Oversized: +6 cm from each participant's measured hip breadth)</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IV2 — Steering Wheel Reach: 3 levels (Close: −4 cm, Moderate: 0 cm, Far: +4 cm from each participant's optimal reach position)</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9 conditions total, 10 observations per condition, 90 total race observations</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Each participant completes 3 races — one per reach level — assigned to one seat level for the full study</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Latin Square counterbalancing across 6 reach condition orderings, 5 participants per ordering</a:t>
            </a:r>
            <a:endParaRPr sz="900">
              <a:solidFill>
                <a:schemeClr val="lt1"/>
              </a:solidFill>
            </a:endParaRPr>
          </a:p>
          <a:p>
            <a:pPr indent="0" lvl="0" marL="0" rtl="0" algn="l">
              <a:spcBef>
                <a:spcPts val="0"/>
              </a:spcBef>
              <a:spcAft>
                <a:spcPts val="0"/>
              </a:spcAft>
              <a:buClr>
                <a:schemeClr val="dk1"/>
              </a:buClr>
              <a:buSzPts val="1100"/>
              <a:buFont typeface="Arial"/>
              <a:buNone/>
            </a:pPr>
            <a:r>
              <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Dependent variables to simulate for each observation:</a:t>
            </a:r>
            <a:endParaRPr sz="900">
              <a:solidFill>
                <a:schemeClr val="lt1"/>
              </a:solidFill>
            </a:endParaRPr>
          </a:p>
          <a:p>
            <a:pPr indent="0" lvl="0" marL="0" rtl="0" algn="l">
              <a:spcBef>
                <a:spcPts val="0"/>
              </a:spcBef>
              <a:spcAft>
                <a:spcPts val="0"/>
              </a:spcAft>
              <a:buClr>
                <a:schemeClr val="dk1"/>
              </a:buClr>
              <a:buSzPts val="1100"/>
              <a:buFont typeface="Arial"/>
              <a:buNone/>
            </a:pPr>
            <a:r>
              <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Race Time in seconds over 66 laps at Circuit de Barcelona-Catalunya. Baseline optimal ~6,600 sec. Penalties: Undersized +150 sec, Oversized +80 sec, Close reach +120 sec, Far reach +60 sec. Noise SD ±45 sec.</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Driving Error Count (track limit violations). Baseline optimal ~10 errors. Penalties: Undersized +7, Oversized +4, Close +6, Far +3. Noise SD ±3.</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NASA-TLX Score (0–100, weighted). Baseline optimal ~55. Penalties: Undersized +15, Oversized +8, Close +14, Far +7. Noise SD ±8.</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Average Body Part Discomfort (1–10 scale, 5 regions: lower back, hips/buttocks, shoulders, arms/wrists, neck). Baseline optimal ~3.5. Penalties: Undersized +2.2, Oversized +1.2, Close +2.0, Far +1.0. Noise SD ±1.0. Apply regional weighting so seat clearance most affects lower back and hips, reach distance most affects shoulders and arms.</a:t>
            </a:r>
            <a:endParaRPr sz="900">
              <a:solidFill>
                <a:schemeClr val="lt1"/>
              </a:solidFill>
            </a:endParaRPr>
          </a:p>
          <a:p>
            <a:pPr indent="0" lvl="0" marL="0" rtl="0" algn="l">
              <a:spcBef>
                <a:spcPts val="0"/>
              </a:spcBef>
              <a:spcAft>
                <a:spcPts val="0"/>
              </a:spcAft>
              <a:buClr>
                <a:schemeClr val="dk1"/>
              </a:buClr>
              <a:buSzPts val="1100"/>
              <a:buFont typeface="Arial"/>
              <a:buNone/>
            </a:pPr>
            <a:r>
              <a:t/>
            </a:r>
            <a:endParaRPr sz="900">
              <a:solidFill>
                <a:schemeClr val="lt1"/>
              </a:solidFill>
            </a:endParaRPr>
          </a:p>
          <a:p>
            <a:pPr indent="0" lvl="0" marL="0" rtl="0" algn="l">
              <a:spcBef>
                <a:spcPts val="0"/>
              </a:spcBef>
              <a:spcAft>
                <a:spcPts val="0"/>
              </a:spcAft>
              <a:buClr>
                <a:schemeClr val="dk1"/>
              </a:buClr>
              <a:buSzPts val="1100"/>
              <a:buFont typeface="Arial"/>
              <a:buNone/>
            </a:pPr>
            <a:r>
              <a:rPr lang="en-US" sz="900">
                <a:solidFill>
                  <a:schemeClr val="lt1"/>
                </a:solidFill>
              </a:rPr>
              <a:t>Use Python with numpy and a fixed random seed of 42 for reproducibility. Output the dataset as an organized Excel file with the following sheets: Raw Data (one row per race observation), Summary Statistics (means and SDs by condition), ANOVA-Ready data, and Participant Profiles. All simulation parameters should be grounded in the ranges reported in vehicle ergonomics literature."</a:t>
            </a:r>
            <a:endParaRPr sz="900">
              <a:solidFill>
                <a:schemeClr val="lt1"/>
              </a:solidFill>
            </a:endParaRPr>
          </a:p>
          <a:p>
            <a:pPr indent="0" lvl="0" marL="0" rtl="0" algn="l">
              <a:spcBef>
                <a:spcPts val="0"/>
              </a:spcBef>
              <a:spcAft>
                <a:spcPts val="0"/>
              </a:spcAft>
              <a:buNone/>
            </a:pPr>
            <a:r>
              <a:t/>
            </a:r>
            <a:endParaRPr sz="900">
              <a:solidFill>
                <a:schemeClr val="lt1"/>
              </a:solidFill>
            </a:endParaRPr>
          </a:p>
          <a:p>
            <a:pPr indent="0" lvl="0" marL="0" rtl="0" algn="l">
              <a:spcBef>
                <a:spcPts val="0"/>
              </a:spcBef>
              <a:spcAft>
                <a:spcPts val="0"/>
              </a:spcAft>
              <a:buNone/>
            </a:pPr>
            <a:r>
              <a:t/>
            </a:r>
            <a:endParaRPr sz="900">
              <a:solidFill>
                <a:schemeClr val="lt1"/>
              </a:solidFill>
            </a:endParaRPr>
          </a:p>
        </p:txBody>
      </p:sp>
      <p:sp>
        <p:nvSpPr>
          <p:cNvPr id="517" name="Google Shape;517;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